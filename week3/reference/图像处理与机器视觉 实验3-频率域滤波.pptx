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4" r:id="rId4"/>
    <p:sldMasterId id="2147483686" r:id="rId5"/>
  </p:sldMasterIdLst>
  <p:notesMasterIdLst>
    <p:notesMasterId r:id="rId7"/>
  </p:notesMasterIdLst>
  <p:handoutMasterIdLst>
    <p:handoutMasterId r:id="rId25"/>
  </p:handoutMasterIdLst>
  <p:sldIdLst>
    <p:sldId id="993" r:id="rId6"/>
    <p:sldId id="3389910" r:id="rId8"/>
    <p:sldId id="473" r:id="rId9"/>
    <p:sldId id="3389871" r:id="rId10"/>
    <p:sldId id="3390048" r:id="rId11"/>
    <p:sldId id="3390047" r:id="rId12"/>
    <p:sldId id="3389865" r:id="rId13"/>
    <p:sldId id="3390044" r:id="rId14"/>
    <p:sldId id="3389866" r:id="rId15"/>
    <p:sldId id="3390045" r:id="rId16"/>
    <p:sldId id="3389867" r:id="rId17"/>
    <p:sldId id="3389868" r:id="rId18"/>
    <p:sldId id="3390011" r:id="rId19"/>
    <p:sldId id="3389872" r:id="rId20"/>
    <p:sldId id="3389822" r:id="rId21"/>
    <p:sldId id="3389823" r:id="rId22"/>
    <p:sldId id="3389840" r:id="rId23"/>
    <p:sldId id="3390046" r:id="rId24"/>
  </p:sldIdLst>
  <p:sldSz cx="9144000" cy="5143500" type="screen16x9"/>
  <p:notesSz cx="6858000" cy="9144000"/>
  <p:custDataLst>
    <p:tags r:id="rId2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5" userDrawn="1">
          <p15:clr>
            <a:srgbClr val="A4A3A4"/>
          </p15:clr>
        </p15:guide>
        <p15:guide id="2" pos="27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F1F"/>
    <a:srgbClr val="078307"/>
    <a:srgbClr val="C1FFD0"/>
    <a:srgbClr val="99F999"/>
    <a:srgbClr val="81FF9F"/>
    <a:srgbClr val="E6E6E6"/>
    <a:srgbClr val="E1FFE8"/>
    <a:srgbClr val="D5FFDF"/>
    <a:srgbClr val="EBF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89587" autoAdjust="0"/>
  </p:normalViewPr>
  <p:slideViewPr>
    <p:cSldViewPr showGuides="1">
      <p:cViewPr varScale="1">
        <p:scale>
          <a:sx n="124" d="100"/>
          <a:sy n="124" d="100"/>
        </p:scale>
        <p:origin x="63" y="354"/>
      </p:cViewPr>
      <p:guideLst>
        <p:guide orient="horz" pos="1825"/>
        <p:guide pos="2724"/>
      </p:guideLst>
    </p:cSldViewPr>
  </p:slideViewPr>
  <p:outlineViewPr>
    <p:cViewPr>
      <p:scale>
        <a:sx n="33" d="100"/>
        <a:sy n="33" d="100"/>
      </p:scale>
      <p:origin x="0" y="1014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3ACE0E-0BA1-4A5C-9AC5-C11AB2A608E3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3357563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国家精准农业航空施药技术国际联合研究中心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b="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24ACA8B-0643-4C01-BE58-DBD92EE8E5A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08DCAE7-43B2-4ACA-B4F6-6A8DBD300F5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17474"/>
            <a:ext cx="7848600" cy="611188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12825"/>
            <a:ext cx="8229600" cy="38147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450" y="203200"/>
            <a:ext cx="7848600" cy="61118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13222"/>
            <a:ext cx="4038600" cy="38147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13222"/>
            <a:ext cx="4038600" cy="38147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450" y="203200"/>
            <a:ext cx="7848600" cy="61118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450" y="203200"/>
            <a:ext cx="7848600" cy="61118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012825"/>
            <a:ext cx="8229600" cy="38147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91338" y="202406"/>
            <a:ext cx="2144712" cy="46255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2406"/>
            <a:ext cx="6281738" cy="46255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3" y="202407"/>
            <a:ext cx="7739679" cy="6118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2"/>
          </p:nvPr>
        </p:nvSpPr>
        <p:spPr>
          <a:xfrm>
            <a:off x="323529" y="1005576"/>
            <a:ext cx="8675782" cy="39035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6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7308850" y="4948238"/>
            <a:ext cx="1403350" cy="1666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74937E-7991-4EF7-8AD6-C870EABDEA2C}" type="datetime2">
              <a:rPr kumimoji="0" lang="zh-CN" altLang="en-US" sz="12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351838" y="4937125"/>
            <a:ext cx="647700" cy="2063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noProof="1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5974B0-23D7-43E1-8CCE-D591826AE34A}" type="slidenum">
              <a:rPr kumimoji="0" altLang="zh-CN" sz="1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8176" y="195486"/>
            <a:ext cx="7246193" cy="4860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789552"/>
            <a:ext cx="4038600" cy="3942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789552"/>
            <a:ext cx="4038600" cy="3942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13222"/>
            <a:ext cx="4038600" cy="3814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13222"/>
            <a:ext cx="4038600" cy="3814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91338" y="202406"/>
            <a:ext cx="2144712" cy="4625579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2406"/>
            <a:ext cx="6281738" cy="4625579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13222"/>
            <a:ext cx="4038600" cy="3814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13222"/>
            <a:ext cx="4038600" cy="3814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91338" y="202406"/>
            <a:ext cx="2144712" cy="4625579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2406"/>
            <a:ext cx="6281738" cy="4625579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13222"/>
            <a:ext cx="4038600" cy="3814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13222"/>
            <a:ext cx="4038600" cy="3814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200150" y="50749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91338" y="202406"/>
            <a:ext cx="2144712" cy="4625579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2406"/>
            <a:ext cx="6281738" cy="4625579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microsoft.com/office/2007/relationships/hdphoto" Target="../media/image3.wdp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5" Type="http://schemas.openxmlformats.org/officeDocument/2006/relationships/image" Target="../media/image6.png"/><Relationship Id="rId14" Type="http://schemas.openxmlformats.org/officeDocument/2006/relationships/image" Target="../media/image1.png"/><Relationship Id="rId13" Type="http://schemas.openxmlformats.org/officeDocument/2006/relationships/image" Target="../media/image5.png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5" Type="http://schemas.openxmlformats.org/officeDocument/2006/relationships/image" Target="../media/image6.png"/><Relationship Id="rId14" Type="http://schemas.openxmlformats.org/officeDocument/2006/relationships/image" Target="../media/image1.png"/><Relationship Id="rId13" Type="http://schemas.openxmlformats.org/officeDocument/2006/relationships/image" Target="../media/image5.png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6" Type="http://schemas.openxmlformats.org/officeDocument/2006/relationships/theme" Target="../theme/theme4.xml"/><Relationship Id="rId15" Type="http://schemas.openxmlformats.org/officeDocument/2006/relationships/image" Target="../media/image6.png"/><Relationship Id="rId14" Type="http://schemas.openxmlformats.org/officeDocument/2006/relationships/image" Target="../media/image1.png"/><Relationship Id="rId13" Type="http://schemas.openxmlformats.org/officeDocument/2006/relationships/image" Target="../media/image5.png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"/>
          <p:cNvSpPr>
            <a:spLocks noChangeArrowheads="1"/>
          </p:cNvSpPr>
          <p:nvPr userDrawn="1"/>
        </p:nvSpPr>
        <p:spPr bwMode="auto">
          <a:xfrm>
            <a:off x="0" y="4872772"/>
            <a:ext cx="6019800" cy="2700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64000">
                <a:srgbClr val="F5FDFA"/>
              </a:gs>
              <a:gs pos="100000">
                <a:srgbClr val="F5FDFA"/>
              </a:gs>
            </a:gsLst>
            <a:lin ang="0" scaled="1"/>
          </a:gradFill>
          <a:ln>
            <a:noFill/>
          </a:ln>
        </p:spPr>
        <p:txBody>
          <a:bodyPr lIns="46800" rIns="46800"/>
          <a:lstStyle>
            <a:lvl1pPr indent="35750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357505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89825" y="4948238"/>
            <a:ext cx="1403350" cy="1666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150472-AE38-4198-90F6-8AE6E458DAC4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51838" y="4937125"/>
            <a:ext cx="647700" cy="206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28E463-EBF4-471D-AF3D-E9C0A7753740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" name="矩形 15"/>
          <p:cNvGrpSpPr/>
          <p:nvPr userDrawn="1"/>
        </p:nvGrpSpPr>
        <p:grpSpPr>
          <a:xfrm>
            <a:off x="0" y="676151"/>
            <a:ext cx="9034463" cy="31750"/>
            <a:chOff x="0" y="0"/>
            <a:chExt cx="5691" cy="27"/>
          </a:xfrm>
          <a:gradFill>
            <a:gsLst>
              <a:gs pos="100000">
                <a:schemeClr val="bg1"/>
              </a:gs>
              <a:gs pos="0">
                <a:srgbClr val="058306"/>
              </a:gs>
            </a:gsLst>
            <a:lin ang="0" scaled="1"/>
          </a:gradFill>
        </p:grpSpPr>
        <p:pic>
          <p:nvPicPr>
            <p:cNvPr id="25" name="矩形 15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0" y="0"/>
              <a:ext cx="5691" cy="27"/>
            </a:xfrm>
            <a:prstGeom prst="rect">
              <a:avLst/>
            </a:prstGeom>
            <a:grpFill/>
            <a:ln w="9525">
              <a:noFill/>
            </a:ln>
          </p:spPr>
        </p:pic>
        <p:sp>
          <p:nvSpPr>
            <p:cNvPr id="26" name="Text Box 13"/>
            <p:cNvSpPr txBox="1">
              <a:spLocks noChangeArrowheads="1"/>
            </p:cNvSpPr>
            <p:nvPr/>
          </p:nvSpPr>
          <p:spPr bwMode="auto">
            <a:xfrm>
              <a:off x="0" y="-1"/>
              <a:ext cx="5692" cy="28"/>
            </a:xfrm>
            <a:prstGeom prst="rect">
              <a:avLst/>
            </a:prstGeom>
            <a:grp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7" name="图片 26" descr="徽标&#10;&#10;描述已自动生成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715" r="19054"/>
          <a:stretch>
            <a:fillRect/>
          </a:stretch>
        </p:blipFill>
        <p:spPr>
          <a:xfrm>
            <a:off x="8445198" y="24814"/>
            <a:ext cx="698802" cy="664744"/>
          </a:xfrm>
          <a:prstGeom prst="rect">
            <a:avLst/>
          </a:prstGeom>
        </p:spPr>
      </p:pic>
      <p:sp>
        <p:nvSpPr>
          <p:cNvPr id="28" name="矩形 27"/>
          <p:cNvSpPr/>
          <p:nvPr userDrawn="1"/>
        </p:nvSpPr>
        <p:spPr bwMode="auto">
          <a:xfrm>
            <a:off x="0" y="260970"/>
            <a:ext cx="251522" cy="428588"/>
          </a:xfrm>
          <a:prstGeom prst="rect">
            <a:avLst/>
          </a:prstGeom>
          <a:gradFill>
            <a:gsLst>
              <a:gs pos="0">
                <a:srgbClr val="369C38"/>
              </a:gs>
              <a:gs pos="100000">
                <a:srgbClr val="058306">
                  <a:alpha val="30000"/>
                </a:srgbClr>
              </a:gs>
            </a:gsLst>
            <a:lin ang="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 b="1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500" b="1">
          <a:solidFill>
            <a:schemeClr val="accent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200" b="1">
          <a:solidFill>
            <a:schemeClr val="accent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200" b="1">
          <a:solidFill>
            <a:schemeClr val="accent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0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6513" y="0"/>
            <a:ext cx="1651000" cy="1000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矩形 1"/>
          <p:cNvSpPr>
            <a:spLocks noChangeArrowheads="1"/>
          </p:cNvSpPr>
          <p:nvPr/>
        </p:nvSpPr>
        <p:spPr bwMode="auto">
          <a:xfrm>
            <a:off x="3124200" y="0"/>
            <a:ext cx="6019800" cy="198438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64000">
                <a:srgbClr val="F5FDFA"/>
              </a:gs>
              <a:gs pos="100000">
                <a:srgbClr val="F5FDFA"/>
              </a:gs>
            </a:gsLst>
            <a:lin ang="0" scaled="1"/>
          </a:gradFill>
          <a:ln>
            <a:noFill/>
          </a:ln>
        </p:spPr>
        <p:txBody>
          <a:bodyPr lIns="46800" rIns="46800"/>
          <a:lstStyle>
            <a:lvl1pPr indent="35750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357505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2" name="矩形 14"/>
          <p:cNvGrpSpPr/>
          <p:nvPr userDrawn="1"/>
        </p:nvGrpSpPr>
        <p:grpSpPr>
          <a:xfrm>
            <a:off x="-20637" y="4951413"/>
            <a:ext cx="6019800" cy="196850"/>
            <a:chOff x="0" y="0"/>
            <a:chExt cx="3794" cy="165"/>
          </a:xfrm>
        </p:grpSpPr>
        <p:pic>
          <p:nvPicPr>
            <p:cNvPr id="2062" name="矩形 14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0" y="0"/>
              <a:ext cx="3794" cy="1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Text Box 6"/>
            <p:cNvSpPr txBox="1">
              <a:spLocks noChangeArrowheads="1"/>
            </p:cNvSpPr>
            <p:nvPr/>
          </p:nvSpPr>
          <p:spPr bwMode="auto">
            <a:xfrm>
              <a:off x="0" y="-1"/>
              <a:ext cx="3792" cy="169"/>
            </a:xfrm>
            <a:prstGeom prst="rect">
              <a:avLst/>
            </a:prstGeom>
            <a:no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3" name="矩形 15"/>
          <p:cNvGrpSpPr/>
          <p:nvPr userDrawn="1"/>
        </p:nvGrpSpPr>
        <p:grpSpPr>
          <a:xfrm>
            <a:off x="0" y="892175"/>
            <a:ext cx="9034463" cy="31750"/>
            <a:chOff x="0" y="0"/>
            <a:chExt cx="5691" cy="27"/>
          </a:xfrm>
        </p:grpSpPr>
        <p:pic>
          <p:nvPicPr>
            <p:cNvPr id="2060" name="矩形 15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0" y="0"/>
              <a:ext cx="5691" cy="2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7" name="Text Box 9"/>
            <p:cNvSpPr txBox="1">
              <a:spLocks noChangeArrowheads="1"/>
            </p:cNvSpPr>
            <p:nvPr/>
          </p:nvSpPr>
          <p:spPr bwMode="auto">
            <a:xfrm>
              <a:off x="0" y="-1"/>
              <a:ext cx="5692" cy="28"/>
            </a:xfrm>
            <a:prstGeom prst="rect">
              <a:avLst/>
            </a:prstGeom>
            <a:no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54" name="Rectangle 2"/>
          <p:cNvSpPr>
            <a:spLocks noGrp="1"/>
          </p:cNvSpPr>
          <p:nvPr>
            <p:ph type="title"/>
          </p:nvPr>
        </p:nvSpPr>
        <p:spPr>
          <a:xfrm>
            <a:off x="1187450" y="203200"/>
            <a:ext cx="7848600" cy="6111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055" name="Rectangle 3"/>
          <p:cNvSpPr>
            <a:spLocks noGrp="1"/>
          </p:cNvSpPr>
          <p:nvPr>
            <p:ph type="body"/>
          </p:nvPr>
        </p:nvSpPr>
        <p:spPr>
          <a:xfrm>
            <a:off x="457200" y="1012825"/>
            <a:ext cx="8229600" cy="38147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06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89825" y="4948238"/>
            <a:ext cx="1403350" cy="1666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EE5733-B262-4BD2-B98B-6180CB79E4B6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51838" y="4937125"/>
            <a:ext cx="647700" cy="206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5834A7-BD8D-4661-A9CC-53580A23212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2"/>
          <p:cNvSpPr txBox="1">
            <a:spLocks noChangeArrowheads="1"/>
          </p:cNvSpPr>
          <p:nvPr/>
        </p:nvSpPr>
        <p:spPr bwMode="auto">
          <a:xfrm>
            <a:off x="755650" y="4937125"/>
            <a:ext cx="2686050" cy="2921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3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国际农业航空施药技术联合实验室</a:t>
            </a:r>
            <a:endParaRPr kumimoji="0" lang="zh-CN" altLang="en-US" sz="1300" b="1" i="1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059" name="图片 15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1750" y="4710113"/>
            <a:ext cx="938213" cy="4556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 b="1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500" b="1">
          <a:solidFill>
            <a:schemeClr val="accent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200" b="1">
          <a:solidFill>
            <a:schemeClr val="accent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200" b="1">
          <a:solidFill>
            <a:schemeClr val="accent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0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6513" y="0"/>
            <a:ext cx="1651000" cy="1000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矩形 1"/>
          <p:cNvSpPr>
            <a:spLocks noChangeArrowheads="1"/>
          </p:cNvSpPr>
          <p:nvPr/>
        </p:nvSpPr>
        <p:spPr bwMode="auto">
          <a:xfrm>
            <a:off x="3124200" y="0"/>
            <a:ext cx="6019800" cy="198438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64000">
                <a:srgbClr val="F5FDFA"/>
              </a:gs>
              <a:gs pos="100000">
                <a:srgbClr val="F5FDFA"/>
              </a:gs>
            </a:gsLst>
            <a:lin ang="0" scaled="1"/>
          </a:gradFill>
          <a:ln>
            <a:noFill/>
          </a:ln>
        </p:spPr>
        <p:txBody>
          <a:bodyPr lIns="46800" rIns="46800"/>
          <a:lstStyle>
            <a:lvl1pPr indent="35750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357505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76" name="矩形 14"/>
          <p:cNvGrpSpPr/>
          <p:nvPr userDrawn="1"/>
        </p:nvGrpSpPr>
        <p:grpSpPr>
          <a:xfrm>
            <a:off x="-20637" y="4951413"/>
            <a:ext cx="6019800" cy="196850"/>
            <a:chOff x="0" y="0"/>
            <a:chExt cx="3794" cy="165"/>
          </a:xfrm>
        </p:grpSpPr>
        <p:pic>
          <p:nvPicPr>
            <p:cNvPr id="3086" name="矩形 14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0" y="0"/>
              <a:ext cx="3794" cy="1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Text Box 6"/>
            <p:cNvSpPr txBox="1">
              <a:spLocks noChangeArrowheads="1"/>
            </p:cNvSpPr>
            <p:nvPr/>
          </p:nvSpPr>
          <p:spPr bwMode="auto">
            <a:xfrm>
              <a:off x="0" y="-1"/>
              <a:ext cx="3792" cy="169"/>
            </a:xfrm>
            <a:prstGeom prst="rect">
              <a:avLst/>
            </a:prstGeom>
            <a:no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077" name="矩形 15"/>
          <p:cNvGrpSpPr/>
          <p:nvPr userDrawn="1"/>
        </p:nvGrpSpPr>
        <p:grpSpPr>
          <a:xfrm>
            <a:off x="0" y="892175"/>
            <a:ext cx="9034463" cy="31750"/>
            <a:chOff x="0" y="0"/>
            <a:chExt cx="5691" cy="27"/>
          </a:xfrm>
        </p:grpSpPr>
        <p:pic>
          <p:nvPicPr>
            <p:cNvPr id="3084" name="矩形 15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0" y="0"/>
              <a:ext cx="5691" cy="2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81" name="Text Box 9"/>
            <p:cNvSpPr txBox="1">
              <a:spLocks noChangeArrowheads="1"/>
            </p:cNvSpPr>
            <p:nvPr/>
          </p:nvSpPr>
          <p:spPr bwMode="auto">
            <a:xfrm>
              <a:off x="0" y="-1"/>
              <a:ext cx="5692" cy="28"/>
            </a:xfrm>
            <a:prstGeom prst="rect">
              <a:avLst/>
            </a:prstGeom>
            <a:no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78" name="Rectangle 2"/>
          <p:cNvSpPr>
            <a:spLocks noGrp="1"/>
          </p:cNvSpPr>
          <p:nvPr>
            <p:ph type="title"/>
          </p:nvPr>
        </p:nvSpPr>
        <p:spPr>
          <a:xfrm>
            <a:off x="1187450" y="203200"/>
            <a:ext cx="7848600" cy="6111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079" name="Rectangle 3"/>
          <p:cNvSpPr>
            <a:spLocks noGrp="1"/>
          </p:cNvSpPr>
          <p:nvPr>
            <p:ph type="body"/>
          </p:nvPr>
        </p:nvSpPr>
        <p:spPr>
          <a:xfrm>
            <a:off x="457200" y="1012825"/>
            <a:ext cx="8229600" cy="38147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085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08850" y="4948238"/>
            <a:ext cx="1403350" cy="1666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CCFAB0-E518-4F03-AB3F-486741D8B1A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51838" y="4937125"/>
            <a:ext cx="647700" cy="206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8BF645-44DA-407D-AF83-68EB083B9634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2"/>
          <p:cNvSpPr txBox="1">
            <a:spLocks noChangeArrowheads="1"/>
          </p:cNvSpPr>
          <p:nvPr/>
        </p:nvSpPr>
        <p:spPr bwMode="auto">
          <a:xfrm>
            <a:off x="755650" y="4937125"/>
            <a:ext cx="2686050" cy="2921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3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国际农业航空施药技术联合实验室</a:t>
            </a:r>
            <a:endParaRPr kumimoji="0" lang="zh-CN" altLang="en-US" sz="1300" b="1" i="1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083" name="图片 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6513" y="4729163"/>
            <a:ext cx="938212" cy="4556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 b="1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500" b="1">
          <a:solidFill>
            <a:schemeClr val="accent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200" b="1">
          <a:solidFill>
            <a:schemeClr val="accent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200" b="1">
          <a:solidFill>
            <a:schemeClr val="accent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0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6513" y="0"/>
            <a:ext cx="1651000" cy="1000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矩形 1"/>
          <p:cNvSpPr>
            <a:spLocks noChangeArrowheads="1"/>
          </p:cNvSpPr>
          <p:nvPr/>
        </p:nvSpPr>
        <p:spPr bwMode="auto">
          <a:xfrm>
            <a:off x="3124200" y="0"/>
            <a:ext cx="6019800" cy="198438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64000">
                <a:srgbClr val="F5FDFA"/>
              </a:gs>
              <a:gs pos="100000">
                <a:srgbClr val="F5FDFA"/>
              </a:gs>
            </a:gsLst>
            <a:lin ang="0" scaled="1"/>
          </a:gradFill>
          <a:ln>
            <a:noFill/>
          </a:ln>
        </p:spPr>
        <p:txBody>
          <a:bodyPr lIns="46800" rIns="46800"/>
          <a:lstStyle>
            <a:lvl1pPr indent="357505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357505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00" name="矩形 14"/>
          <p:cNvGrpSpPr/>
          <p:nvPr userDrawn="1"/>
        </p:nvGrpSpPr>
        <p:grpSpPr>
          <a:xfrm>
            <a:off x="-20637" y="4951413"/>
            <a:ext cx="6019800" cy="196850"/>
            <a:chOff x="0" y="0"/>
            <a:chExt cx="3794" cy="165"/>
          </a:xfrm>
        </p:grpSpPr>
        <p:pic>
          <p:nvPicPr>
            <p:cNvPr id="4110" name="矩形 14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0" y="0"/>
              <a:ext cx="3794" cy="1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Text Box 6"/>
            <p:cNvSpPr txBox="1">
              <a:spLocks noChangeArrowheads="1"/>
            </p:cNvSpPr>
            <p:nvPr/>
          </p:nvSpPr>
          <p:spPr bwMode="auto">
            <a:xfrm>
              <a:off x="0" y="-1"/>
              <a:ext cx="3792" cy="169"/>
            </a:xfrm>
            <a:prstGeom prst="rect">
              <a:avLst/>
            </a:prstGeom>
            <a:no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01" name="矩形 15"/>
          <p:cNvGrpSpPr/>
          <p:nvPr userDrawn="1"/>
        </p:nvGrpSpPr>
        <p:grpSpPr>
          <a:xfrm>
            <a:off x="0" y="892175"/>
            <a:ext cx="9034463" cy="31750"/>
            <a:chOff x="0" y="0"/>
            <a:chExt cx="5691" cy="27"/>
          </a:xfrm>
        </p:grpSpPr>
        <p:pic>
          <p:nvPicPr>
            <p:cNvPr id="4108" name="矩形 15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0" y="0"/>
              <a:ext cx="5691" cy="2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5" name="Text Box 9"/>
            <p:cNvSpPr txBox="1">
              <a:spLocks noChangeArrowheads="1"/>
            </p:cNvSpPr>
            <p:nvPr/>
          </p:nvSpPr>
          <p:spPr bwMode="auto">
            <a:xfrm>
              <a:off x="0" y="-1"/>
              <a:ext cx="5692" cy="28"/>
            </a:xfrm>
            <a:prstGeom prst="rect">
              <a:avLst/>
            </a:prstGeom>
            <a:noFill/>
            <a:ln>
              <a:noFill/>
            </a:ln>
          </p:spPr>
          <p:txBody>
            <a:bodyPr lIns="46800" rIns="46800"/>
            <a:lstStyle>
              <a:lvl1pPr indent="357505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357505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02" name="Rectangle 2"/>
          <p:cNvSpPr>
            <a:spLocks noGrp="1"/>
          </p:cNvSpPr>
          <p:nvPr>
            <p:ph type="title"/>
          </p:nvPr>
        </p:nvSpPr>
        <p:spPr>
          <a:xfrm>
            <a:off x="1187450" y="203200"/>
            <a:ext cx="7848600" cy="6111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103" name="Rectangle 3"/>
          <p:cNvSpPr>
            <a:spLocks noGrp="1"/>
          </p:cNvSpPr>
          <p:nvPr>
            <p:ph type="body"/>
          </p:nvPr>
        </p:nvSpPr>
        <p:spPr>
          <a:xfrm>
            <a:off x="457200" y="1012825"/>
            <a:ext cx="8229600" cy="38147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10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948488" y="4948238"/>
            <a:ext cx="1403350" cy="1666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A55D30-F5CF-421F-AFDD-DB55AE156D93}" type="datetime2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6788" y="4948238"/>
            <a:ext cx="412750" cy="206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BABE79-0D57-45BC-BC54-0066D2DF7F6E}" type="slidenum"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2"/>
          <p:cNvSpPr txBox="1">
            <a:spLocks noChangeArrowheads="1"/>
          </p:cNvSpPr>
          <p:nvPr/>
        </p:nvSpPr>
        <p:spPr bwMode="auto">
          <a:xfrm>
            <a:off x="755650" y="4937125"/>
            <a:ext cx="2686050" cy="2921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3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国际农业航空施药技术联合实验室</a:t>
            </a:r>
            <a:endParaRPr kumimoji="0" lang="zh-CN" altLang="en-US" sz="1300" b="1" i="1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107" name="图片 15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6513" y="4729163"/>
            <a:ext cx="938212" cy="4556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900" b="1">
          <a:solidFill>
            <a:srgbClr val="FF0000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 b="1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500" b="1">
          <a:solidFill>
            <a:schemeClr val="accent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200" b="1">
          <a:solidFill>
            <a:schemeClr val="accent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200" b="1">
          <a:solidFill>
            <a:schemeClr val="accent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200" b="1">
          <a:solidFill>
            <a:schemeClr val="accent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bilibili.com/video/BV1f7411r7tb?spm_id_from=333.788.videopod.sections&amp;vd_source=aa7a1c46a5a005c9d0d6a9147bc9b43c" TargetMode="External"/><Relationship Id="rId2" Type="http://schemas.openxmlformats.org/officeDocument/2006/relationships/hyperlink" Target="https://www.bilibili.com/video/BV1iu4y1r7qF/?spm_id_from=333.337.search-card.all.click&amp;vd_source=aa7a1c46a5a005c9d0d6a9147bc9b43c" TargetMode="External"/><Relationship Id="rId1" Type="http://schemas.openxmlformats.org/officeDocument/2006/relationships/hyperlink" Target="https://www.bilibili.com/video/BV14N411S7Vb?spm_id_from=333.788.videopod.episodes&amp;vd_source=aa7a1c46a5a005c9d0d6a9147bc9b43c&amp;p=5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4"/>
          <p:cNvSpPr>
            <a:spLocks noChangeShapeType="1"/>
          </p:cNvSpPr>
          <p:nvPr/>
        </p:nvSpPr>
        <p:spPr bwMode="auto">
          <a:xfrm>
            <a:off x="1143000" y="514350"/>
            <a:ext cx="257175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5" name="Line 5"/>
          <p:cNvSpPr>
            <a:spLocks noChangeShapeType="1"/>
          </p:cNvSpPr>
          <p:nvPr/>
        </p:nvSpPr>
        <p:spPr bwMode="auto">
          <a:xfrm>
            <a:off x="1314450" y="0"/>
            <a:ext cx="0" cy="51435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6" name="Rectangle 7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755576" y="833859"/>
            <a:ext cx="6859275" cy="611956"/>
          </a:xfrm>
          <a:prstGeom prst="rect">
            <a:avLst/>
          </a:prstGeom>
          <a:ln>
            <a:miter lim="800000"/>
          </a:ln>
        </p:spPr>
        <p:txBody>
          <a:bodyPr/>
          <a:lstStyle/>
          <a:p>
            <a:pPr eaLnBrk="1" hangingPunct="1">
              <a:lnSpc>
                <a:spcPts val="4350"/>
              </a:lnSpc>
              <a:defRPr/>
            </a:pPr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图像处理与机器视觉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3" name="矩形 4"/>
          <p:cNvSpPr>
            <a:spLocks noChangeArrowheads="1"/>
          </p:cNvSpPr>
          <p:nvPr/>
        </p:nvSpPr>
        <p:spPr bwMode="auto">
          <a:xfrm>
            <a:off x="611560" y="2931790"/>
            <a:ext cx="7777163" cy="1383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 u="sng">
                <a:solidFill>
                  <a:srgbClr val="7D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u="none" dirty="0">
                <a:solidFill>
                  <a:schemeClr val="tx1"/>
                </a:solidFill>
                <a:latin typeface="黑体" panose="02010609060101010101" pitchFamily="49" charset="-122"/>
              </a:rPr>
              <a:t>            授课人：</a:t>
            </a:r>
            <a:r>
              <a:rPr lang="zh-CN" altLang="en-US" sz="2000" u="none" dirty="0">
                <a:solidFill>
                  <a:srgbClr val="C00000"/>
                </a:solidFill>
                <a:latin typeface="黑体" panose="02010609060101010101" pitchFamily="49" charset="-122"/>
                <a:cs typeface="+mj-cs"/>
              </a:rPr>
              <a:t>董昕</a:t>
            </a:r>
            <a:endParaRPr lang="en-US" altLang="zh-CN" sz="2000" u="none" dirty="0">
              <a:solidFill>
                <a:srgbClr val="C00000"/>
              </a:solidFill>
              <a:latin typeface="黑体" panose="02010609060101010101" pitchFamily="49" charset="-122"/>
              <a:cs typeface="+mj-cs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u="none" dirty="0">
                <a:solidFill>
                  <a:schemeClr val="tx1"/>
                </a:solidFill>
                <a:latin typeface="黑体" panose="02010609060101010101" pitchFamily="49" charset="-122"/>
              </a:rPr>
              <a:t>            单  位：</a:t>
            </a:r>
            <a:r>
              <a:rPr lang="zh-CN" altLang="en-US" sz="2000" u="none" dirty="0">
                <a:solidFill>
                  <a:srgbClr val="0000FF"/>
                </a:solidFill>
                <a:latin typeface="黑体" panose="02010609060101010101" pitchFamily="49" charset="-122"/>
              </a:rPr>
              <a:t>人工智能与低空技术学院</a:t>
            </a:r>
            <a:endParaRPr lang="en-US" altLang="zh-CN" sz="2000" u="none" dirty="0">
              <a:solidFill>
                <a:srgbClr val="0000FF"/>
              </a:solidFill>
              <a:latin typeface="黑体" panose="02010609060101010101" pitchFamily="49" charset="-122"/>
            </a:endParaRPr>
          </a:p>
          <a:p>
            <a:pPr algn="ctr" eaLnBrk="1" hangingPunct="1">
              <a:lnSpc>
                <a:spcPct val="120000"/>
              </a:lnSpc>
              <a:defRPr/>
            </a:pPr>
            <a:r>
              <a:rPr lang="en-US" altLang="zh-CN" sz="2000" u="none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sym typeface="+mn-ea"/>
              </a:rPr>
              <a:t>	</a:t>
            </a:r>
            <a:endParaRPr lang="en-US" altLang="zh-CN" sz="2000" u="none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16069" y="1995881"/>
            <a:ext cx="3798168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三、频率域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滤波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1688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475740" y="114935"/>
            <a:ext cx="5894070" cy="621665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1" lang="zh-CN" altLang="en-US" dirty="0"/>
              <a:t>对于上节课图像增强技术的简单</a:t>
            </a:r>
            <a:r>
              <a:rPr kumimoji="1" lang="zh-CN" altLang="en-US" dirty="0"/>
              <a:t>回顾</a:t>
            </a:r>
            <a:endParaRPr kumimoji="1" lang="zh-CN" altLang="en-US" dirty="0"/>
          </a:p>
        </p:txBody>
      </p:sp>
      <p:sp>
        <p:nvSpPr>
          <p:cNvPr id="14339" name="TextBox 1"/>
          <p:cNvSpPr txBox="1">
            <a:spLocks noChangeArrowheads="1"/>
          </p:cNvSpPr>
          <p:nvPr/>
        </p:nvSpPr>
        <p:spPr bwMode="auto">
          <a:xfrm>
            <a:off x="153829" y="2800483"/>
            <a:ext cx="70246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zh-CN" altLang="en-US" sz="2100"/>
              <a:t>方法</a:t>
            </a:r>
            <a:endParaRPr lang="zh-CN" altLang="en-US" sz="2100"/>
          </a:p>
        </p:txBody>
      </p:sp>
      <p:sp>
        <p:nvSpPr>
          <p:cNvPr id="14340" name="TextBox 4"/>
          <p:cNvSpPr txBox="1">
            <a:spLocks noChangeArrowheads="1"/>
          </p:cNvSpPr>
          <p:nvPr/>
        </p:nvSpPr>
        <p:spPr bwMode="auto">
          <a:xfrm>
            <a:off x="833200" y="1835045"/>
            <a:ext cx="99738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zh-CN" altLang="en-US" sz="2100"/>
              <a:t>空间域</a:t>
            </a:r>
            <a:endParaRPr lang="zh-CN" altLang="en-US" sz="2100"/>
          </a:p>
        </p:txBody>
      </p:sp>
      <p:sp>
        <p:nvSpPr>
          <p:cNvPr id="14341" name="TextBox 5"/>
          <p:cNvSpPr txBox="1">
            <a:spLocks noChangeArrowheads="1"/>
          </p:cNvSpPr>
          <p:nvPr/>
        </p:nvSpPr>
        <p:spPr bwMode="auto">
          <a:xfrm>
            <a:off x="846297" y="4029763"/>
            <a:ext cx="99738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zh-CN" altLang="en-US" sz="2100">
                <a:solidFill>
                  <a:srgbClr val="FF0000"/>
                </a:solidFill>
              </a:rPr>
              <a:t>频率域</a:t>
            </a:r>
            <a:endParaRPr lang="zh-CN" altLang="en-US" sz="2100">
              <a:solidFill>
                <a:srgbClr val="FF0000"/>
              </a:solidFill>
            </a:endParaRPr>
          </a:p>
        </p:txBody>
      </p:sp>
      <p:sp>
        <p:nvSpPr>
          <p:cNvPr id="14342" name="TextBox 6"/>
          <p:cNvSpPr txBox="1">
            <a:spLocks noChangeArrowheads="1"/>
          </p:cNvSpPr>
          <p:nvPr/>
        </p:nvSpPr>
        <p:spPr bwMode="auto">
          <a:xfrm>
            <a:off x="2075022" y="1388561"/>
            <a:ext cx="99738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zh-CN" altLang="en-US" sz="2100" dirty="0"/>
              <a:t>点运算</a:t>
            </a:r>
            <a:endParaRPr lang="zh-CN" altLang="en-US" sz="2100" dirty="0"/>
          </a:p>
        </p:txBody>
      </p:sp>
      <p:sp>
        <p:nvSpPr>
          <p:cNvPr id="14343" name="TextBox 7"/>
          <p:cNvSpPr txBox="1">
            <a:spLocks noChangeArrowheads="1"/>
          </p:cNvSpPr>
          <p:nvPr/>
        </p:nvSpPr>
        <p:spPr bwMode="auto">
          <a:xfrm>
            <a:off x="1830589" y="2525446"/>
            <a:ext cx="185178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None/>
            </a:pPr>
            <a:r>
              <a:rPr lang="zh-CN" altLang="en-US" sz="2100" dirty="0">
                <a:solidFill>
                  <a:schemeClr val="tx1"/>
                </a:solidFill>
              </a:rPr>
              <a:t>邻域运算</a:t>
            </a:r>
            <a:endParaRPr lang="en-US" altLang="zh-CN" sz="2100" dirty="0">
              <a:solidFill>
                <a:schemeClr val="tx1"/>
              </a:solidFill>
            </a:endParaRPr>
          </a:p>
          <a:p>
            <a:pPr algn="ctr">
              <a:buNone/>
            </a:pPr>
            <a:r>
              <a:rPr lang="zh-CN" altLang="en-US" sz="2100" dirty="0">
                <a:solidFill>
                  <a:schemeClr val="tx1"/>
                </a:solidFill>
              </a:rPr>
              <a:t>（空域滤波）</a:t>
            </a:r>
            <a:endParaRPr lang="zh-CN" altLang="en-US" sz="2100" dirty="0">
              <a:solidFill>
                <a:schemeClr val="tx1"/>
              </a:solidFill>
            </a:endParaRPr>
          </a:p>
        </p:txBody>
      </p:sp>
      <p:sp>
        <p:nvSpPr>
          <p:cNvPr id="14344" name="TextBox 8"/>
          <p:cNvSpPr txBox="1">
            <a:spLocks noChangeArrowheads="1"/>
          </p:cNvSpPr>
          <p:nvPr/>
        </p:nvSpPr>
        <p:spPr bwMode="auto">
          <a:xfrm>
            <a:off x="3209688" y="1642163"/>
            <a:ext cx="181011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zh-CN" altLang="en-US" sz="2100" dirty="0"/>
              <a:t>直方图修正法</a:t>
            </a:r>
            <a:endParaRPr lang="zh-CN" altLang="en-US" sz="2100" dirty="0"/>
          </a:p>
        </p:txBody>
      </p:sp>
      <p:sp>
        <p:nvSpPr>
          <p:cNvPr id="14345" name="TextBox 9"/>
          <p:cNvSpPr txBox="1">
            <a:spLocks noChangeArrowheads="1"/>
          </p:cNvSpPr>
          <p:nvPr/>
        </p:nvSpPr>
        <p:spPr bwMode="auto">
          <a:xfrm>
            <a:off x="3711972" y="1132576"/>
            <a:ext cx="126829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zh-CN" altLang="en-US" sz="2100" dirty="0">
                <a:solidFill>
                  <a:schemeClr val="tx1"/>
                </a:solidFill>
              </a:rPr>
              <a:t>灰度变换</a:t>
            </a:r>
            <a:endParaRPr lang="zh-CN" altLang="en-US" sz="2100" dirty="0">
              <a:solidFill>
                <a:schemeClr val="tx1"/>
              </a:solidFill>
            </a:endParaRPr>
          </a:p>
        </p:txBody>
      </p:sp>
      <p:sp>
        <p:nvSpPr>
          <p:cNvPr id="14346" name="TextBox 11"/>
          <p:cNvSpPr txBox="1">
            <a:spLocks noChangeArrowheads="1"/>
          </p:cNvSpPr>
          <p:nvPr/>
        </p:nvSpPr>
        <p:spPr bwMode="auto">
          <a:xfrm>
            <a:off x="5071825" y="1388561"/>
            <a:ext cx="99738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zh-CN" altLang="en-US" sz="2100">
                <a:solidFill>
                  <a:schemeClr val="tx1"/>
                </a:solidFill>
              </a:rPr>
              <a:t>均衡化</a:t>
            </a:r>
            <a:endParaRPr lang="zh-CN" altLang="en-US" sz="2100">
              <a:solidFill>
                <a:schemeClr val="tx1"/>
              </a:solidFill>
            </a:endParaRPr>
          </a:p>
        </p:txBody>
      </p:sp>
      <p:sp>
        <p:nvSpPr>
          <p:cNvPr id="14347" name="TextBox 12"/>
          <p:cNvSpPr txBox="1">
            <a:spLocks noChangeArrowheads="1"/>
          </p:cNvSpPr>
          <p:nvPr/>
        </p:nvSpPr>
        <p:spPr bwMode="auto">
          <a:xfrm>
            <a:off x="5067063" y="1781467"/>
            <a:ext cx="99738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zh-CN" altLang="en-US" sz="2100"/>
              <a:t>规定化</a:t>
            </a:r>
            <a:endParaRPr lang="zh-CN" altLang="en-US" sz="2100"/>
          </a:p>
        </p:txBody>
      </p:sp>
      <p:sp>
        <p:nvSpPr>
          <p:cNvPr id="14348" name="TextBox 13"/>
          <p:cNvSpPr txBox="1">
            <a:spLocks noChangeArrowheads="1"/>
          </p:cNvSpPr>
          <p:nvPr/>
        </p:nvSpPr>
        <p:spPr bwMode="auto">
          <a:xfrm>
            <a:off x="3976474" y="2308034"/>
            <a:ext cx="126829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zh-CN" altLang="en-US" sz="2100" dirty="0">
                <a:solidFill>
                  <a:schemeClr val="tx1"/>
                </a:solidFill>
              </a:rPr>
              <a:t>图像平滑</a:t>
            </a:r>
            <a:endParaRPr lang="zh-CN" altLang="en-US" sz="2100" dirty="0">
              <a:solidFill>
                <a:schemeClr val="tx1"/>
              </a:solidFill>
            </a:endParaRPr>
          </a:p>
        </p:txBody>
      </p:sp>
      <p:sp>
        <p:nvSpPr>
          <p:cNvPr id="14349" name="TextBox 14"/>
          <p:cNvSpPr txBox="1">
            <a:spLocks noChangeArrowheads="1"/>
          </p:cNvSpPr>
          <p:nvPr/>
        </p:nvSpPr>
        <p:spPr bwMode="auto">
          <a:xfrm>
            <a:off x="3867388" y="3114381"/>
            <a:ext cx="133562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en-US" altLang="zh-CN" sz="2100" dirty="0"/>
              <a:t> </a:t>
            </a:r>
            <a:r>
              <a:rPr lang="zh-CN" altLang="en-US" sz="2100" dirty="0">
                <a:solidFill>
                  <a:schemeClr val="tx1"/>
                </a:solidFill>
              </a:rPr>
              <a:t>图像锐化</a:t>
            </a:r>
            <a:endParaRPr lang="zh-CN" altLang="en-US" sz="2100" dirty="0">
              <a:solidFill>
                <a:schemeClr val="tx1"/>
              </a:solidFill>
            </a:endParaRPr>
          </a:p>
        </p:txBody>
      </p:sp>
      <p:sp>
        <p:nvSpPr>
          <p:cNvPr id="14350" name="TextBox 15"/>
          <p:cNvSpPr txBox="1">
            <a:spLocks noChangeArrowheads="1"/>
          </p:cNvSpPr>
          <p:nvPr/>
        </p:nvSpPr>
        <p:spPr bwMode="auto">
          <a:xfrm>
            <a:off x="1994969" y="4336165"/>
            <a:ext cx="126829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zh-CN" altLang="en-US" sz="2100" dirty="0">
                <a:solidFill>
                  <a:srgbClr val="FF0000"/>
                </a:solidFill>
              </a:rPr>
              <a:t>高通滤波</a:t>
            </a:r>
            <a:endParaRPr lang="zh-CN" altLang="en-US" sz="2100" dirty="0">
              <a:solidFill>
                <a:srgbClr val="FF0000"/>
              </a:solidFill>
            </a:endParaRPr>
          </a:p>
        </p:txBody>
      </p:sp>
      <p:sp>
        <p:nvSpPr>
          <p:cNvPr id="14351" name="TextBox 16"/>
          <p:cNvSpPr txBox="1">
            <a:spLocks noChangeArrowheads="1"/>
          </p:cNvSpPr>
          <p:nvPr/>
        </p:nvSpPr>
        <p:spPr bwMode="auto">
          <a:xfrm>
            <a:off x="2057991" y="3544780"/>
            <a:ext cx="126829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None/>
            </a:pPr>
            <a:r>
              <a:rPr lang="zh-CN" altLang="en-US" sz="2100" dirty="0">
                <a:solidFill>
                  <a:srgbClr val="FF0000"/>
                </a:solidFill>
              </a:rPr>
              <a:t>低通滤波</a:t>
            </a:r>
            <a:endParaRPr lang="zh-CN" altLang="en-US" sz="2100" dirty="0">
              <a:solidFill>
                <a:srgbClr val="FF0000"/>
              </a:solidFill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538480" y="2067560"/>
            <a:ext cx="432435" cy="22091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  <a:defRPr/>
            </a:pPr>
            <a:endParaRPr lang="zh-CN" altLang="en-US" b="1"/>
          </a:p>
        </p:txBody>
      </p:sp>
      <p:sp>
        <p:nvSpPr>
          <p:cNvPr id="20" name="左大括号 19"/>
          <p:cNvSpPr/>
          <p:nvPr/>
        </p:nvSpPr>
        <p:spPr>
          <a:xfrm>
            <a:off x="1745219" y="1525483"/>
            <a:ext cx="334565" cy="11930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  <a:defRPr/>
            </a:pPr>
            <a:endParaRPr lang="zh-CN" altLang="en-US" b="1"/>
          </a:p>
        </p:txBody>
      </p:sp>
      <p:sp>
        <p:nvSpPr>
          <p:cNvPr id="21" name="左大括号 20"/>
          <p:cNvSpPr/>
          <p:nvPr/>
        </p:nvSpPr>
        <p:spPr>
          <a:xfrm>
            <a:off x="3429794" y="1156389"/>
            <a:ext cx="335756" cy="82034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  <a:defRPr/>
            </a:pPr>
            <a:endParaRPr lang="zh-CN" altLang="en-US" b="1"/>
          </a:p>
        </p:txBody>
      </p:sp>
      <p:sp>
        <p:nvSpPr>
          <p:cNvPr id="22" name="左大括号 21"/>
          <p:cNvSpPr/>
          <p:nvPr/>
        </p:nvSpPr>
        <p:spPr>
          <a:xfrm>
            <a:off x="4883707" y="1388561"/>
            <a:ext cx="335756" cy="78462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  <a:defRPr/>
            </a:pPr>
            <a:endParaRPr lang="zh-CN" altLang="en-US" b="1"/>
          </a:p>
        </p:txBody>
      </p:sp>
      <p:sp>
        <p:nvSpPr>
          <p:cNvPr id="25" name="左大括号 24"/>
          <p:cNvSpPr/>
          <p:nvPr/>
        </p:nvSpPr>
        <p:spPr>
          <a:xfrm>
            <a:off x="3698073" y="2580760"/>
            <a:ext cx="334565" cy="78462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  <a:defRPr/>
            </a:pPr>
            <a:endParaRPr lang="zh-CN" altLang="en-US" b="1"/>
          </a:p>
        </p:txBody>
      </p:sp>
      <p:sp>
        <p:nvSpPr>
          <p:cNvPr id="26" name="左大括号 25"/>
          <p:cNvSpPr/>
          <p:nvPr/>
        </p:nvSpPr>
        <p:spPr>
          <a:xfrm>
            <a:off x="1787287" y="3921621"/>
            <a:ext cx="278210" cy="679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  <a:defRPr/>
            </a:pPr>
            <a:endParaRPr lang="zh-CN" altLang="en-US" b="1"/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1983729" y="2036975"/>
            <a:ext cx="289374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100" dirty="0"/>
              <a:t>代数运算（加减乘除）</a:t>
            </a:r>
            <a:endParaRPr lang="zh-CN" altLang="en-US" sz="2100" dirty="0"/>
          </a:p>
        </p:txBody>
      </p:sp>
      <p:sp>
        <p:nvSpPr>
          <p:cNvPr id="2" name="文本框 1"/>
          <p:cNvSpPr txBox="1"/>
          <p:nvPr/>
        </p:nvSpPr>
        <p:spPr>
          <a:xfrm>
            <a:off x="1116330" y="843280"/>
            <a:ext cx="72123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dirty="0">
                <a:sym typeface="+mn-ea"/>
              </a:rPr>
              <a:t>图像增强就是让图像变得更有用的过程。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并不能增加原始图像的信息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5730" y="2172970"/>
            <a:ext cx="858520" cy="7594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990" y="2994660"/>
            <a:ext cx="1028065" cy="7835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95365" y="2355850"/>
            <a:ext cx="728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积分</a:t>
            </a:r>
            <a:r>
              <a:rPr lang="en-US" altLang="zh-CN"/>
              <a:t>∫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155055" y="3147695"/>
            <a:ext cx="15614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微分△</a:t>
            </a:r>
            <a:r>
              <a:rPr lang="en-US" altLang="zh-CN"/>
              <a:t>→</a:t>
            </a:r>
            <a:r>
              <a:rPr lang="zh-CN" altLang="en-US"/>
              <a:t>差分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4" name="图片 7"/>
          <p:cNvPicPr>
            <a:picLocks noChangeAspect="1"/>
          </p:cNvPicPr>
          <p:nvPr/>
        </p:nvPicPr>
        <p:blipFill>
          <a:blip r:embed="rId3"/>
          <a:srcRect l="880" t="3000" r="52651" b="6600"/>
          <a:stretch>
            <a:fillRect/>
          </a:stretch>
        </p:blipFill>
        <p:spPr>
          <a:xfrm>
            <a:off x="6193155" y="3562985"/>
            <a:ext cx="2448560" cy="287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7"/>
          <p:cNvPicPr>
            <a:picLocks noChangeAspect="1"/>
          </p:cNvPicPr>
          <p:nvPr/>
        </p:nvPicPr>
        <p:blipFill>
          <a:blip r:embed="rId3"/>
          <a:srcRect l="50554" t="3600" r="2994" b="5800"/>
          <a:stretch>
            <a:fillRect/>
          </a:stretch>
        </p:blipFill>
        <p:spPr>
          <a:xfrm>
            <a:off x="6193155" y="3866515"/>
            <a:ext cx="2448243" cy="287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175" y="3538855"/>
            <a:ext cx="675640" cy="7296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925" y="4368165"/>
            <a:ext cx="780415" cy="55435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3520" y="2812415"/>
            <a:ext cx="742950" cy="75057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0685" y="4336415"/>
            <a:ext cx="662305" cy="67818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7985" y="3579495"/>
            <a:ext cx="685800" cy="67564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5145" y="2067560"/>
            <a:ext cx="883285" cy="8864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本课内容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2195" y="771684"/>
            <a:ext cx="8064896" cy="393620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 sz="2000" dirty="0"/>
          </a:p>
          <a:p>
            <a:r>
              <a:rPr lang="zh-CN" altLang="en-US" sz="2000" dirty="0"/>
              <a:t>实现图像的傅里叶变换，显示幅度谱和相位谱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实现低通滤波和高通滤波，通过傅里叶反变换，重构图像并显示，与空域滤波进行比较。</a:t>
            </a:r>
            <a:endParaRPr lang="zh-CN" altLang="en-US" sz="2000" dirty="0"/>
          </a:p>
          <a:p>
            <a:endParaRPr lang="zh-CN" altLang="en-US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频域低通</a:t>
            </a: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平滑）</a:t>
            </a:r>
            <a:r>
              <a:rPr lang="zh-CN" altLang="en-US" sz="2000" dirty="0">
                <a:solidFill>
                  <a:srgbClr val="FF0000"/>
                </a:solidFill>
              </a:rPr>
              <a:t>、高通（锐化）</a:t>
            </a:r>
            <a:endParaRPr lang="zh-CN" altLang="en-US" sz="2000" dirty="0"/>
          </a:p>
          <a:p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/>
          <p:nvPr>
            <p:ph idx="1"/>
          </p:nvPr>
        </p:nvSpPr>
        <p:spPr>
          <a:xfrm>
            <a:off x="3202940" y="1923415"/>
            <a:ext cx="2738120" cy="944880"/>
          </a:xfrm>
        </p:spPr>
        <p:txBody>
          <a:bodyPr/>
          <a:p>
            <a:pPr marL="0" indent="0">
              <a:buNone/>
            </a:pPr>
            <a:r>
              <a:rPr lang="zh-CN" altLang="en-US" sz="4800"/>
              <a:t>理论知识</a:t>
            </a:r>
            <a:endParaRPr lang="zh-CN" altLang="en-US" sz="4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117475"/>
            <a:ext cx="8147050" cy="611505"/>
          </a:xfrm>
        </p:spPr>
        <p:txBody>
          <a:bodyPr/>
          <a:p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：对图像进行</a:t>
            </a:r>
            <a:r>
              <a:rPr lang="zh-CN" dirty="0">
                <a:sym typeface="+mn-ea"/>
              </a:rPr>
              <a:t>傅里叶变换（频域滤波）</a:t>
            </a:r>
            <a:endParaRPr lang="zh-CN" dirty="0"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117475"/>
            <a:ext cx="8147050" cy="611505"/>
          </a:xfrm>
        </p:spPr>
        <p:txBody>
          <a:bodyPr/>
          <a:p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：对图像进行</a:t>
            </a:r>
            <a:r>
              <a:rPr lang="zh-CN" dirty="0">
                <a:sym typeface="+mn-ea"/>
              </a:rPr>
              <a:t>傅里叶变换（频域滤波）</a:t>
            </a:r>
            <a:endParaRPr lang="zh-CN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7405" y="12030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hlinkClick r:id="rId1"/>
              </a:rPr>
              <a:t>51 </a:t>
            </a:r>
            <a:r>
              <a:rPr lang="zh-CN" altLang="en-US" sz="1600">
                <a:hlinkClick r:id="rId1"/>
              </a:rPr>
              <a:t>傅里叶变换原理</a:t>
            </a:r>
            <a:r>
              <a:rPr lang="en-US" altLang="zh-CN" sz="1600">
                <a:hlinkClick r:id="rId1"/>
              </a:rPr>
              <a:t>_</a:t>
            </a:r>
            <a:r>
              <a:rPr lang="zh-CN" altLang="en-US" sz="1600">
                <a:hlinkClick r:id="rId1"/>
              </a:rPr>
              <a:t>哔哩哔哩</a:t>
            </a:r>
            <a:r>
              <a:rPr lang="en-US" altLang="zh-CN" sz="1600">
                <a:hlinkClick r:id="rId1"/>
              </a:rPr>
              <a:t>_bilibili</a:t>
            </a:r>
            <a:endParaRPr lang="en-US" altLang="zh-CN" sz="1600">
              <a:hlinkClick r:id="rId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5650" y="35074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>
                <a:hlinkClick r:id="rId2"/>
              </a:rPr>
              <a:t>二维傅里叶变换的可视化</a:t>
            </a:r>
            <a:r>
              <a:rPr lang="en-US" altLang="zh-CN" sz="1600">
                <a:hlinkClick r:id="rId2"/>
              </a:rPr>
              <a:t>_</a:t>
            </a:r>
            <a:r>
              <a:rPr lang="zh-CN" altLang="en-US" sz="1600">
                <a:hlinkClick r:id="rId2"/>
              </a:rPr>
              <a:t>哔哩哔哩</a:t>
            </a:r>
            <a:r>
              <a:rPr lang="en-US" altLang="zh-CN" sz="1600">
                <a:hlinkClick r:id="rId2"/>
              </a:rPr>
              <a:t>_bilibili</a:t>
            </a:r>
            <a:endParaRPr lang="en-US" altLang="zh-CN" sz="1600">
              <a:hlinkClick r:id="rId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5650" y="227996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>
                <a:hlinkClick r:id="rId3"/>
              </a:rPr>
              <a:t>对自己的猫做了傅里叶变换！二维傅里叶变换的原理讲解与实际应用</a:t>
            </a:r>
            <a:r>
              <a:rPr lang="en-US" altLang="zh-CN" sz="1600">
                <a:hlinkClick r:id="rId3"/>
              </a:rPr>
              <a:t>_</a:t>
            </a:r>
            <a:r>
              <a:rPr lang="zh-CN" altLang="en-US" sz="1600">
                <a:hlinkClick r:id="rId3"/>
              </a:rPr>
              <a:t>哔哩哔哩</a:t>
            </a:r>
            <a:r>
              <a:rPr lang="en-US" altLang="zh-CN" sz="1600">
                <a:hlinkClick r:id="rId3"/>
              </a:rPr>
              <a:t>_bilibili</a:t>
            </a:r>
            <a:endParaRPr lang="en-US" altLang="zh-CN" sz="1600">
              <a:hlinkClick r:id="rId3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51435"/>
            <a:ext cx="9141460" cy="50882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117475"/>
            <a:ext cx="8147050" cy="61150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对图像进行</a:t>
            </a:r>
            <a:r>
              <a:rPr lang="zh-CN" dirty="0">
                <a:sym typeface="+mn-ea"/>
              </a:rPr>
              <a:t>傅里叶变换（频域滤波）</a:t>
            </a:r>
            <a:endParaRPr lang="zh-CN" altLang="en-US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33400" y="-299720"/>
            <a:ext cx="10210800" cy="57435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38285" cy="51511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117475"/>
            <a:ext cx="8147050" cy="61150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对图像进行</a:t>
            </a:r>
            <a:r>
              <a:rPr lang="zh-CN" dirty="0">
                <a:sym typeface="+mn-ea"/>
              </a:rPr>
              <a:t>傅里叶变换（频域滤波）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203690" cy="51917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-135255" y="3723640"/>
            <a:ext cx="97605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FF"/>
                </a:solidFill>
                <a:latin typeface="+mj-lt"/>
                <a:ea typeface="+mj-lt"/>
                <a:cs typeface="+mj-lt"/>
              </a:rPr>
              <a:t>np.fft.fftshift(</a:t>
            </a:r>
            <a:r>
              <a:rPr lang="en-US" altLang="zh-CN" sz="2400">
                <a:solidFill>
                  <a:srgbClr val="0000FF"/>
                </a:solidFill>
                <a:latin typeface="+mj-lt"/>
                <a:ea typeface="+mj-lt"/>
                <a:cs typeface="+mj-lt"/>
              </a:rPr>
              <a:t>dft</a:t>
            </a:r>
            <a:r>
              <a:rPr lang="zh-CN" altLang="en-US" sz="2400">
                <a:solidFill>
                  <a:srgbClr val="0000FF"/>
                </a:solidFill>
                <a:latin typeface="+mj-lt"/>
                <a:ea typeface="+mj-lt"/>
                <a:cs typeface="+mj-lt"/>
              </a:rPr>
              <a:t>)</a:t>
            </a:r>
            <a:r>
              <a:rPr lang="zh-CN" altLang="en-US" sz="2400">
                <a:latin typeface="+mj-lt"/>
                <a:ea typeface="+mj-lt"/>
                <a:cs typeface="+mj-lt"/>
                <a:sym typeface="+mn-ea"/>
              </a:rPr>
              <a:t>将低频率分量移动到频谱图像的中心位置</a:t>
            </a:r>
            <a:endParaRPr lang="zh-CN" altLang="en-US" sz="2400">
              <a:latin typeface="+mj-lt"/>
              <a:ea typeface="+mj-lt"/>
              <a:cs typeface="+mj-lt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FF"/>
                </a:solidFill>
                <a:latin typeface="+mj-lt"/>
                <a:ea typeface="+mj-lt"/>
                <a:cs typeface="+mj-lt"/>
                <a:sym typeface="+mn-ea"/>
              </a:rPr>
              <a:t>np.fft.ifftshift(原始频谱)</a:t>
            </a:r>
            <a:r>
              <a:rPr lang="zh-CN" altLang="en-US" sz="2400">
                <a:latin typeface="+mj-lt"/>
                <a:ea typeface="+mj-lt"/>
                <a:cs typeface="+mj-lt"/>
              </a:rPr>
              <a:t>将频谱图像中的零频率分量移动到原位</a:t>
            </a:r>
            <a:endParaRPr lang="zh-CN" altLang="en-US" sz="2400">
              <a:latin typeface="+mj-lt"/>
              <a:ea typeface="+mj-lt"/>
              <a:cs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>
              <a:latin typeface="+mj-lt"/>
              <a:ea typeface="+mj-lt"/>
              <a:cs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9159875" cy="51574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117475"/>
            <a:ext cx="8147050" cy="61150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对图像进行</a:t>
            </a:r>
            <a:r>
              <a:rPr lang="zh-CN" dirty="0">
                <a:sym typeface="+mn-ea"/>
              </a:rPr>
              <a:t>傅里叶变换（频域滤波）</a:t>
            </a:r>
            <a:endParaRPr lang="zh-CN" altLang="en-US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11279" b="29586"/>
          <a:stretch>
            <a:fillRect/>
          </a:stretch>
        </p:blipFill>
        <p:spPr>
          <a:xfrm>
            <a:off x="35560" y="1059180"/>
            <a:ext cx="8663940" cy="334518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117475"/>
            <a:ext cx="8147050" cy="61150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对图像进行</a:t>
            </a:r>
            <a:r>
              <a:rPr lang="zh-CN" dirty="0">
                <a:sym typeface="+mn-ea"/>
              </a:rPr>
              <a:t>傅里叶变换（频域滤波）</a:t>
            </a:r>
            <a:endParaRPr lang="zh-CN" altLang="en-US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11279" b="29586"/>
          <a:stretch>
            <a:fillRect/>
          </a:stretch>
        </p:blipFill>
        <p:spPr>
          <a:xfrm>
            <a:off x="35560" y="1059180"/>
            <a:ext cx="8663940" cy="33451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77655" cy="51333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117475"/>
            <a:ext cx="8147050" cy="61150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对图像进行</a:t>
            </a:r>
            <a:r>
              <a:rPr lang="zh-CN" dirty="0">
                <a:sym typeface="+mn-ea"/>
              </a:rPr>
              <a:t>傅里叶变换（频域滤波）</a:t>
            </a:r>
            <a:endParaRPr lang="zh-CN" altLang="en-US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11279" b="29586"/>
          <a:stretch>
            <a:fillRect/>
          </a:stretch>
        </p:blipFill>
        <p:spPr>
          <a:xfrm>
            <a:off x="35560" y="1059180"/>
            <a:ext cx="8663940" cy="33451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b="11070"/>
          <a:stretch>
            <a:fillRect/>
          </a:stretch>
        </p:blipFill>
        <p:spPr>
          <a:xfrm>
            <a:off x="-36830" y="592455"/>
            <a:ext cx="9180830" cy="4551045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/>
        </p:nvSpPr>
        <p:spPr>
          <a:xfrm>
            <a:off x="0" y="0"/>
            <a:ext cx="8147050" cy="61150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ym typeface="+mn-ea"/>
              </a:rPr>
              <a:t>高通滤波器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/>
          <p:nvPr>
            <p:ph idx="1"/>
          </p:nvPr>
        </p:nvSpPr>
        <p:spPr>
          <a:xfrm>
            <a:off x="3202940" y="1923415"/>
            <a:ext cx="2738120" cy="944880"/>
          </a:xfrm>
        </p:spPr>
        <p:txBody>
          <a:bodyPr/>
          <a:p>
            <a:pPr marL="0" indent="0">
              <a:buNone/>
            </a:pPr>
            <a:r>
              <a:rPr lang="zh-CN" altLang="en-US" sz="4800"/>
              <a:t>代码实现</a:t>
            </a:r>
            <a:endParaRPr lang="zh-CN" altLang="en-US" sz="4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117475"/>
            <a:ext cx="8147050" cy="611505"/>
          </a:xfrm>
        </p:spPr>
        <p:txBody>
          <a:bodyPr/>
          <a:p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：对图像进行</a:t>
            </a:r>
            <a:r>
              <a:rPr lang="zh-CN" dirty="0">
                <a:sym typeface="+mn-ea"/>
              </a:rPr>
              <a:t>傅里叶变换（频域滤波）</a:t>
            </a:r>
            <a:endParaRPr lang="zh-CN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7720" y="3147695"/>
            <a:ext cx="2905125" cy="8763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117475"/>
            <a:ext cx="8147050" cy="61150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：对图像进行</a:t>
            </a:r>
            <a:r>
              <a:rPr lang="zh-CN" dirty="0">
                <a:sym typeface="+mn-ea"/>
              </a:rPr>
              <a:t>傅里叶变换（频域滤波）</a:t>
            </a:r>
            <a:endParaRPr lang="zh-CN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810" y="1635125"/>
            <a:ext cx="4714875" cy="2343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699770"/>
            <a:ext cx="3935730" cy="40138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117475"/>
            <a:ext cx="8147050" cy="61150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对图像进行</a:t>
            </a:r>
            <a:r>
              <a:rPr lang="zh-CN" dirty="0">
                <a:sym typeface="+mn-ea"/>
              </a:rPr>
              <a:t>傅里叶变换（频域滤波）</a:t>
            </a:r>
            <a:endParaRPr lang="zh-CN" altLang="en-US" dirty="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33770"/>
          <a:stretch>
            <a:fillRect/>
          </a:stretch>
        </p:blipFill>
        <p:spPr>
          <a:xfrm>
            <a:off x="6443980" y="915035"/>
            <a:ext cx="1894205" cy="37103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866140"/>
            <a:ext cx="5696585" cy="39338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117475"/>
            <a:ext cx="8147050" cy="61150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对图像进行</a:t>
            </a:r>
            <a:r>
              <a:rPr lang="zh-CN" dirty="0">
                <a:sym typeface="+mn-ea"/>
              </a:rPr>
              <a:t>傅里叶变换（频域滤波）</a:t>
            </a:r>
            <a:endParaRPr lang="zh-CN" altLang="en-US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728980"/>
            <a:ext cx="2511425" cy="4070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5" y="728980"/>
            <a:ext cx="1550670" cy="43110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370" y="699135"/>
            <a:ext cx="1442085" cy="42646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实验报告内容及要求</a:t>
            </a:r>
            <a:r>
              <a:rPr lang="zh-CN" altLang="en-US" sz="2000">
                <a:solidFill>
                  <a:srgbClr val="FF0000"/>
                </a:solidFill>
              </a:rPr>
              <a:t>（下节课上课前</a:t>
            </a:r>
            <a:r>
              <a:rPr lang="zh-CN" altLang="en-US" sz="2000">
                <a:solidFill>
                  <a:srgbClr val="FF0000"/>
                </a:solidFill>
              </a:rPr>
              <a:t>学委收</a:t>
            </a:r>
            <a:r>
              <a:rPr lang="zh-CN" altLang="en-US" sz="2000">
                <a:solidFill>
                  <a:srgbClr val="FF0000"/>
                </a:solidFill>
              </a:rPr>
              <a:t>齐）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560" y="771525"/>
            <a:ext cx="9028430" cy="3815080"/>
          </a:xfrm>
        </p:spPr>
        <p:txBody>
          <a:bodyPr/>
          <a:p>
            <a:r>
              <a:rPr lang="en-US" altLang="zh-CN" sz="2200"/>
              <a:t>1.1 </a:t>
            </a:r>
            <a:r>
              <a:rPr lang="zh-CN" altLang="en-US" sz="2200"/>
              <a:t>个人及课程基本信息</a:t>
            </a:r>
            <a:endParaRPr lang="zh-CN" altLang="en-US" sz="2200"/>
          </a:p>
          <a:p>
            <a:r>
              <a:rPr lang="en-US" altLang="zh-CN" sz="2200"/>
              <a:t>1.2 </a:t>
            </a:r>
            <a:r>
              <a:rPr lang="zh-CN" altLang="en-US" sz="2200"/>
              <a:t>实验目的</a:t>
            </a:r>
            <a:endParaRPr lang="en-US" altLang="zh-CN" sz="2200"/>
          </a:p>
          <a:p>
            <a:r>
              <a:rPr lang="en-US" altLang="zh-CN" sz="2200"/>
              <a:t>2.1 </a:t>
            </a:r>
            <a:r>
              <a:rPr lang="zh-CN" altLang="en-US" sz="2200"/>
              <a:t>对图像进行傅里叶变换，得到幅度谱和</a:t>
            </a:r>
            <a:r>
              <a:rPr lang="zh-CN" altLang="en-US" sz="2200"/>
              <a:t>相位谱</a:t>
            </a:r>
            <a:endParaRPr lang="zh-CN" altLang="en-US" sz="2200"/>
          </a:p>
          <a:p>
            <a:r>
              <a:rPr lang="en-US" altLang="zh-CN" sz="2200"/>
              <a:t>2.2 </a:t>
            </a:r>
            <a:r>
              <a:rPr lang="zh-CN" altLang="en-US" sz="2200"/>
              <a:t>参照高通</a:t>
            </a:r>
            <a:r>
              <a:rPr lang="zh-CN" altLang="en-US" sz="2200"/>
              <a:t>蒙版，完成低通</a:t>
            </a:r>
            <a:r>
              <a:rPr lang="zh-CN" altLang="en-US" sz="2200"/>
              <a:t>蒙版的</a:t>
            </a:r>
            <a:r>
              <a:rPr lang="zh-CN" altLang="en-US" sz="2200"/>
              <a:t>设计</a:t>
            </a:r>
            <a:endParaRPr lang="zh-CN" altLang="en-US" sz="2200"/>
          </a:p>
          <a:p>
            <a:r>
              <a:rPr lang="en-US" altLang="zh-CN" sz="2200"/>
              <a:t>2.2 </a:t>
            </a:r>
            <a:r>
              <a:rPr lang="zh-CN" altLang="en-US" sz="2200"/>
              <a:t>显示高通、低通滤波结果的图像</a:t>
            </a:r>
            <a:endParaRPr lang="en-US" altLang="zh-CN" sz="2200"/>
          </a:p>
          <a:p>
            <a:r>
              <a:rPr lang="en-US" altLang="zh-CN" sz="2200"/>
              <a:t>2.3 </a:t>
            </a:r>
            <a:r>
              <a:rPr lang="zh-CN" altLang="en-US" sz="2200"/>
              <a:t>实验总结</a:t>
            </a:r>
            <a:endParaRPr lang="zh-CN" altLang="en-US" sz="2200"/>
          </a:p>
          <a:p>
            <a:r>
              <a:rPr lang="en-US" altLang="zh-CN" sz="2200"/>
              <a:t>{</a:t>
            </a:r>
            <a:r>
              <a:rPr lang="zh-CN" altLang="en-US" sz="2200"/>
              <a:t>实验中的做法，</a:t>
            </a:r>
            <a:r>
              <a:rPr lang="en-US" altLang="zh-CN" sz="2200"/>
              <a:t> </a:t>
            </a:r>
            <a:r>
              <a:rPr lang="zh-CN" altLang="en-US" sz="2200"/>
              <a:t>遇到的困难，</a:t>
            </a:r>
            <a:r>
              <a:rPr lang="en-US" altLang="zh-CN" sz="2200"/>
              <a:t> </a:t>
            </a:r>
            <a:r>
              <a:rPr lang="zh-CN" altLang="en-US" sz="2200"/>
              <a:t>解决难题的方法，</a:t>
            </a:r>
            <a:r>
              <a:rPr lang="en-US" altLang="zh-CN" sz="2200"/>
              <a:t> </a:t>
            </a:r>
            <a:r>
              <a:rPr lang="zh-CN" altLang="en-US" sz="2200"/>
              <a:t>收获体会</a:t>
            </a:r>
            <a:r>
              <a:rPr lang="en-US" altLang="zh-CN" sz="2200"/>
              <a:t>}</a:t>
            </a:r>
            <a:endParaRPr lang="en-US" altLang="zh-CN" sz="2200"/>
          </a:p>
          <a:p>
            <a:pPr marL="0" indent="0" algn="ctr">
              <a:buNone/>
            </a:pPr>
            <a:r>
              <a:rPr lang="zh-CN" altLang="en-US" sz="2200">
                <a:solidFill>
                  <a:srgbClr val="FF0000"/>
                </a:solidFill>
                <a:highlight>
                  <a:srgbClr val="FFFF00"/>
                </a:highlight>
              </a:rPr>
              <a:t>要求：每位同学、每堂课均用不同的图像进行处理</a:t>
            </a:r>
            <a:endParaRPr lang="en-US" altLang="zh-CN" sz="220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sz="2200"/>
              <a:t>拓展（选做）：还有很多其他</a:t>
            </a:r>
            <a:r>
              <a:rPr lang="zh-CN" altLang="en-US" sz="2200"/>
              <a:t>频率域滤波方法，</a:t>
            </a:r>
            <a:r>
              <a:rPr lang="zh-CN" altLang="en-US" sz="2200"/>
              <a:t>找一种尝试</a:t>
            </a:r>
            <a:endParaRPr lang="zh-CN" altLang="en-US" sz="220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Y2IyOWM3YzFiYjM0MjU5ZmQ5NzZjNDBmODBjYmJmNzkifQ=="/>
  <p:tag name="commondata" val="eyJoZGlkIjoiY2YxODdjNzJiYzhhNzYyZWY2ZGI3ZGI0MjI1NDM3MGYifQ=="/>
</p:tagLst>
</file>

<file path=ppt/theme/theme1.xml><?xml version="1.0" encoding="utf-8"?>
<a:theme xmlns:a="http://schemas.openxmlformats.org/drawingml/2006/main" name="农业生产机械装备国家工程实验室(南机所福田）">
  <a:themeElements>
    <a:clrScheme name="农业生产机械装备国家工程实验室(南机所福田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农业生产机械装备国家工程实验室(南机所福田）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农业生产机械装备国家工程实验室(南机所福田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FF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FFCA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农业生产机械装备国家工程实验室(南机所福田）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8A"/>
        </a:accent6>
        <a:hlink>
          <a:srgbClr val="CCCC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农业生产机械装备国家工程实验室(南机所福田）">
  <a:themeElements>
    <a:clrScheme name="1_农业生产机械装备国家工程实验室(南机所福田）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A"/>
      </a:accent6>
      <a:hlink>
        <a:srgbClr val="CCCCFF"/>
      </a:hlink>
      <a:folHlink>
        <a:srgbClr val="969696"/>
      </a:folHlink>
    </a:clrScheme>
    <a:fontScheme name="1_农业生产机械装备国家工程实验室(南机所福田）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农业生产机械装备国家工程实验室(南机所福田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FF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FFCA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农业生产机械装备国家工程实验室(南机所福田）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8A"/>
        </a:accent6>
        <a:hlink>
          <a:srgbClr val="CCCC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农业生产机械装备国家工程实验室(南机所福田）">
  <a:themeElements>
    <a:clrScheme name="2_农业生产机械装备国家工程实验室(南机所福田）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A"/>
      </a:accent6>
      <a:hlink>
        <a:srgbClr val="CCCCFF"/>
      </a:hlink>
      <a:folHlink>
        <a:srgbClr val="969696"/>
      </a:folHlink>
    </a:clrScheme>
    <a:fontScheme name="2_农业生产机械装备国家工程实验室(南机所福田）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农业生产机械装备国家工程实验室(南机所福田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FF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FFCA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农业生产机械装备国家工程实验室(南机所福田）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8A"/>
        </a:accent6>
        <a:hlink>
          <a:srgbClr val="CCCC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农业生产机械装备国家工程实验室(南机所福田）">
  <a:themeElements>
    <a:clrScheme name="3_农业生产机械装备国家工程实验室(南机所福田）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A"/>
      </a:accent6>
      <a:hlink>
        <a:srgbClr val="CCCCFF"/>
      </a:hlink>
      <a:folHlink>
        <a:srgbClr val="969696"/>
      </a:folHlink>
    </a:clrScheme>
    <a:fontScheme name="3_农业生产机械装备国家工程实验室(南机所福田）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农业生产机械装备国家工程实验室(南机所福田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FF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FFCA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2D8A"/>
        </a:accent6>
        <a:hlink>
          <a:srgbClr val="00FF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农业生产机械装备国家工程实验室(南机所福田）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8A"/>
        </a:accent6>
        <a:hlink>
          <a:srgbClr val="CCCC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WPS 演示</Application>
  <PresentationFormat>全屏显示(16:9)</PresentationFormat>
  <Paragraphs>105</Paragraphs>
  <Slides>18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黑体</vt:lpstr>
      <vt:lpstr>Times New Roman</vt:lpstr>
      <vt:lpstr>微软雅黑</vt:lpstr>
      <vt:lpstr>Arial Unicode MS</vt:lpstr>
      <vt:lpstr>农业生产机械装备国家工程实验室(南机所福田）</vt:lpstr>
      <vt:lpstr>1_农业生产机械装备国家工程实验室(南机所福田）</vt:lpstr>
      <vt:lpstr>2_农业生产机械装备国家工程实验室(南机所福田）</vt:lpstr>
      <vt:lpstr>3_农业生产机械装备国家工程实验室(南机所福田）</vt:lpstr>
      <vt:lpstr>图像处理与机器视觉</vt:lpstr>
      <vt:lpstr>对于上节课图像增强技术的简单回顾</vt:lpstr>
      <vt:lpstr>本课内容</vt:lpstr>
      <vt:lpstr>实验3：对图像进行傅里叶变换（频域滤波）</vt:lpstr>
      <vt:lpstr>实验3：对图像进行傅里叶变换（频域滤波）</vt:lpstr>
      <vt:lpstr>PowerPoint 演示文稿</vt:lpstr>
      <vt:lpstr>实验2：对图像进行傅里叶变换（频域滤波）</vt:lpstr>
      <vt:lpstr>PowerPoint 演示文稿</vt:lpstr>
      <vt:lpstr>实验2：对图像进行傅里叶变换（频域滤波）</vt:lpstr>
      <vt:lpstr>PowerPoint 演示文稿</vt:lpstr>
      <vt:lpstr>实验3：对图像进行傅里叶变换（频域滤波）</vt:lpstr>
      <vt:lpstr>实验2：对图像进行傅里叶变换（频域滤波）</vt:lpstr>
      <vt:lpstr>实验2：对图像进行傅里叶变换（频域滤波）</vt:lpstr>
      <vt:lpstr>实验3：对图像进行傅里叶变换（频域滤波）</vt:lpstr>
      <vt:lpstr>实验3：对图像进行傅里叶变换（频域滤波）</vt:lpstr>
      <vt:lpstr>实验3：对图像进行傅里叶变换（频域滤波）</vt:lpstr>
      <vt:lpstr>实验3：对图像进行傅里叶变换（频域滤波）</vt:lpstr>
      <vt:lpstr>实验报告内容及要求（下节课上课前学委收齐）</vt:lpstr>
    </vt:vector>
  </TitlesOfParts>
  <Company>番茄花园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农业生产机械装备国家工程实验室 建设方案汇报</dc:title>
  <dc:creator>番茄花园</dc:creator>
  <cp:lastModifiedBy>董小姐</cp:lastModifiedBy>
  <cp:revision>1616</cp:revision>
  <dcterms:created xsi:type="dcterms:W3CDTF">2024-02-27T02:06:00Z</dcterms:created>
  <dcterms:modified xsi:type="dcterms:W3CDTF">2026-05-18T09:36:21Z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A30EF8767FCDADA6BA43DD65A2026ED3</vt:lpwstr>
  </property>
</Properties>
</file>