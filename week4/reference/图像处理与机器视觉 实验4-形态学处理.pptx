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6" r:id="rId5"/>
  </p:sldMasterIdLst>
  <p:notesMasterIdLst>
    <p:notesMasterId r:id="rId7"/>
  </p:notesMasterIdLst>
  <p:handoutMasterIdLst>
    <p:handoutMasterId r:id="rId34"/>
  </p:handoutMasterIdLst>
  <p:sldIdLst>
    <p:sldId id="993" r:id="rId6"/>
    <p:sldId id="473" r:id="rId8"/>
    <p:sldId id="3389851" r:id="rId9"/>
    <p:sldId id="3389853" r:id="rId10"/>
    <p:sldId id="3389854" r:id="rId11"/>
    <p:sldId id="3389855" r:id="rId12"/>
    <p:sldId id="3389856" r:id="rId13"/>
    <p:sldId id="3389857" r:id="rId14"/>
    <p:sldId id="3389858" r:id="rId15"/>
    <p:sldId id="3389859" r:id="rId16"/>
    <p:sldId id="3389860" r:id="rId17"/>
    <p:sldId id="3389861" r:id="rId18"/>
    <p:sldId id="3389862" r:id="rId19"/>
    <p:sldId id="3389844" r:id="rId20"/>
    <p:sldId id="3389871" r:id="rId21"/>
    <p:sldId id="3389800" r:id="rId22"/>
    <p:sldId id="3389839" r:id="rId23"/>
    <p:sldId id="3389840" r:id="rId24"/>
    <p:sldId id="3389837" r:id="rId25"/>
    <p:sldId id="3389836" r:id="rId26"/>
    <p:sldId id="3389863" r:id="rId27"/>
    <p:sldId id="3389864" r:id="rId28"/>
    <p:sldId id="3389869" r:id="rId29"/>
    <p:sldId id="3389865" r:id="rId30"/>
    <p:sldId id="3389867" r:id="rId31"/>
    <p:sldId id="3389870" r:id="rId32"/>
    <p:sldId id="3389872" r:id="rId33"/>
  </p:sldIdLst>
  <p:sldSz cx="9144000" cy="5143500" type="screen16x9"/>
  <p:notesSz cx="6858000" cy="9144000"/>
  <p:custDataLst>
    <p:tags r:id="rId3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1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D5C"/>
    <a:srgbClr val="4EA850"/>
    <a:srgbClr val="FFFFFF"/>
    <a:srgbClr val="0000FF"/>
    <a:srgbClr val="007F1F"/>
    <a:srgbClr val="078307"/>
    <a:srgbClr val="C1FFD0"/>
    <a:srgbClr val="99F999"/>
    <a:srgbClr val="81FF9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89587" autoAdjust="0"/>
  </p:normalViewPr>
  <p:slideViewPr>
    <p:cSldViewPr showGuides="1">
      <p:cViewPr varScale="1">
        <p:scale>
          <a:sx n="124" d="100"/>
          <a:sy n="124" d="100"/>
        </p:scale>
        <p:origin x="63" y="354"/>
      </p:cViewPr>
      <p:guideLst>
        <p:guide orient="horz" pos="1711"/>
        <p:guide pos="2884"/>
      </p:guideLst>
    </p:cSldViewPr>
  </p:slideViewPr>
  <p:outlineViewPr>
    <p:cViewPr>
      <p:scale>
        <a:sx n="33" d="100"/>
        <a:sy n="33" d="100"/>
      </p:scale>
      <p:origin x="0" y="1014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3ACE0E-0BA1-4A5C-9AC5-C11AB2A608E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3357563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国家精准农业航空施药技术国际联合研究中心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4ACA8B-0643-4C01-BE58-DBD92EE8E5A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08DCAE7-43B2-4ACA-B4F6-6A8DBD300F5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17474"/>
            <a:ext cx="7848600" cy="611188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202407"/>
            <a:ext cx="7739679" cy="6118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>
          <a:xfrm>
            <a:off x="323529" y="1005576"/>
            <a:ext cx="8675782" cy="39035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7308850" y="4948238"/>
            <a:ext cx="1403350" cy="1666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74937E-7991-4EF7-8AD6-C870EABDEA2C}" type="datetime2">
              <a:rPr kumimoji="0" lang="zh-CN" altLang="en-US" sz="12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5974B0-23D7-43E1-8CCE-D591826AE34A}" type="slidenum">
              <a:rPr kumimoji="0" altLang="zh-CN" sz="1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176" y="195486"/>
            <a:ext cx="7246193" cy="4860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789552"/>
            <a:ext cx="4038600" cy="3942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789552"/>
            <a:ext cx="4038600" cy="3942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200150" y="50749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microsoft.com/office/2007/relationships/hdphoto" Target="../media/image3.wdp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6" Type="http://schemas.openxmlformats.org/officeDocument/2006/relationships/theme" Target="../theme/theme4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"/>
          <p:cNvSpPr>
            <a:spLocks noChangeArrowheads="1"/>
          </p:cNvSpPr>
          <p:nvPr userDrawn="1"/>
        </p:nvSpPr>
        <p:spPr bwMode="auto">
          <a:xfrm>
            <a:off x="0" y="4872772"/>
            <a:ext cx="6019800" cy="270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89825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" name="矩形 15"/>
          <p:cNvGrpSpPr/>
          <p:nvPr userDrawn="1"/>
        </p:nvGrpSpPr>
        <p:grpSpPr>
          <a:xfrm>
            <a:off x="0" y="676151"/>
            <a:ext cx="9034463" cy="31750"/>
            <a:chOff x="0" y="0"/>
            <a:chExt cx="5691" cy="27"/>
          </a:xfrm>
          <a:gradFill>
            <a:gsLst>
              <a:gs pos="100000">
                <a:schemeClr val="bg1"/>
              </a:gs>
              <a:gs pos="0">
                <a:srgbClr val="058306"/>
              </a:gs>
            </a:gsLst>
            <a:lin ang="0" scaled="1"/>
          </a:gradFill>
        </p:grpSpPr>
        <p:pic>
          <p:nvPicPr>
            <p:cNvPr id="25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grpFill/>
            <a:ln w="9525">
              <a:noFill/>
            </a:ln>
          </p:spPr>
        </p:pic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grp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7" name="图片 26" descr="徽标&#10;&#10;描述已自动生成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15" r="19054"/>
          <a:stretch>
            <a:fillRect/>
          </a:stretch>
        </p:blipFill>
        <p:spPr>
          <a:xfrm>
            <a:off x="8445198" y="24814"/>
            <a:ext cx="698802" cy="664744"/>
          </a:xfrm>
          <a:prstGeom prst="rect">
            <a:avLst/>
          </a:prstGeom>
        </p:spPr>
      </p:pic>
      <p:sp>
        <p:nvSpPr>
          <p:cNvPr id="28" name="矩形 27"/>
          <p:cNvSpPr/>
          <p:nvPr userDrawn="1"/>
        </p:nvSpPr>
        <p:spPr bwMode="auto">
          <a:xfrm>
            <a:off x="0" y="260970"/>
            <a:ext cx="251522" cy="428588"/>
          </a:xfrm>
          <a:prstGeom prst="rect">
            <a:avLst/>
          </a:prstGeom>
          <a:gradFill>
            <a:gsLst>
              <a:gs pos="0">
                <a:srgbClr val="369C38"/>
              </a:gs>
              <a:gs pos="100000">
                <a:srgbClr val="058306">
                  <a:alpha val="30000"/>
                </a:srgbClr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0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513" y="0"/>
            <a:ext cx="165100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1"/>
          <p:cNvSpPr>
            <a:spLocks noChangeArrowheads="1"/>
          </p:cNvSpPr>
          <p:nvPr/>
        </p:nvSpPr>
        <p:spPr bwMode="auto">
          <a:xfrm>
            <a:off x="3124200" y="0"/>
            <a:ext cx="6019800" cy="198438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2" name="矩形 14"/>
          <p:cNvGrpSpPr/>
          <p:nvPr userDrawn="1"/>
        </p:nvGrpSpPr>
        <p:grpSpPr>
          <a:xfrm>
            <a:off x="-20637" y="4951413"/>
            <a:ext cx="6019800" cy="196850"/>
            <a:chOff x="0" y="0"/>
            <a:chExt cx="3794" cy="165"/>
          </a:xfrm>
        </p:grpSpPr>
        <p:pic>
          <p:nvPicPr>
            <p:cNvPr id="2062" name="矩形 1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794" cy="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0" y="-1"/>
              <a:ext cx="3792" cy="169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3" name="矩形 15"/>
          <p:cNvGrpSpPr/>
          <p:nvPr userDrawn="1"/>
        </p:nvGrpSpPr>
        <p:grpSpPr>
          <a:xfrm>
            <a:off x="0" y="892175"/>
            <a:ext cx="9034463" cy="31750"/>
            <a:chOff x="0" y="0"/>
            <a:chExt cx="5691" cy="27"/>
          </a:xfrm>
        </p:grpSpPr>
        <p:pic>
          <p:nvPicPr>
            <p:cNvPr id="2060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5" name="Rectangle 3"/>
          <p:cNvSpPr>
            <a:spLocks noGrp="1"/>
          </p:cNvSpPr>
          <p:nvPr>
            <p:ph type="body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06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89825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755650" y="4937125"/>
            <a:ext cx="2686050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3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国际农业航空施药技术联合实验室</a:t>
            </a:r>
            <a:endParaRPr kumimoji="0" lang="zh-CN" altLang="en-US" sz="1300" b="1" i="1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9" name="图片 1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1750" y="4710113"/>
            <a:ext cx="938213" cy="4556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0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513" y="0"/>
            <a:ext cx="165100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矩形 1"/>
          <p:cNvSpPr>
            <a:spLocks noChangeArrowheads="1"/>
          </p:cNvSpPr>
          <p:nvPr/>
        </p:nvSpPr>
        <p:spPr bwMode="auto">
          <a:xfrm>
            <a:off x="3124200" y="0"/>
            <a:ext cx="6019800" cy="198438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6" name="矩形 14"/>
          <p:cNvGrpSpPr/>
          <p:nvPr userDrawn="1"/>
        </p:nvGrpSpPr>
        <p:grpSpPr>
          <a:xfrm>
            <a:off x="-20637" y="4951413"/>
            <a:ext cx="6019800" cy="196850"/>
            <a:chOff x="0" y="0"/>
            <a:chExt cx="3794" cy="165"/>
          </a:xfrm>
        </p:grpSpPr>
        <p:pic>
          <p:nvPicPr>
            <p:cNvPr id="3086" name="矩形 1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794" cy="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0" y="-1"/>
              <a:ext cx="3792" cy="169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77" name="矩形 15"/>
          <p:cNvGrpSpPr/>
          <p:nvPr userDrawn="1"/>
        </p:nvGrpSpPr>
        <p:grpSpPr>
          <a:xfrm>
            <a:off x="0" y="892175"/>
            <a:ext cx="9034463" cy="31750"/>
            <a:chOff x="0" y="0"/>
            <a:chExt cx="5691" cy="27"/>
          </a:xfrm>
        </p:grpSpPr>
        <p:pic>
          <p:nvPicPr>
            <p:cNvPr id="3084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1" name="Text Box 9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079" name="Rectangle 3"/>
          <p:cNvSpPr>
            <a:spLocks noGrp="1"/>
          </p:cNvSpPr>
          <p:nvPr>
            <p:ph type="body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085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08850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2"/>
          <p:cNvSpPr txBox="1">
            <a:spLocks noChangeArrowheads="1"/>
          </p:cNvSpPr>
          <p:nvPr/>
        </p:nvSpPr>
        <p:spPr bwMode="auto">
          <a:xfrm>
            <a:off x="755650" y="4937125"/>
            <a:ext cx="2686050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3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国际农业航空施药技术联合实验室</a:t>
            </a:r>
            <a:endParaRPr kumimoji="0" lang="zh-CN" altLang="en-US" sz="1300" b="1" i="1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083" name="图片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6513" y="4729163"/>
            <a:ext cx="938212" cy="4556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0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513" y="0"/>
            <a:ext cx="165100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1"/>
          <p:cNvSpPr>
            <a:spLocks noChangeArrowheads="1"/>
          </p:cNvSpPr>
          <p:nvPr/>
        </p:nvSpPr>
        <p:spPr bwMode="auto">
          <a:xfrm>
            <a:off x="3124200" y="0"/>
            <a:ext cx="6019800" cy="198438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00" name="矩形 14"/>
          <p:cNvGrpSpPr/>
          <p:nvPr userDrawn="1"/>
        </p:nvGrpSpPr>
        <p:grpSpPr>
          <a:xfrm>
            <a:off x="-20637" y="4951413"/>
            <a:ext cx="6019800" cy="196850"/>
            <a:chOff x="0" y="0"/>
            <a:chExt cx="3794" cy="165"/>
          </a:xfrm>
        </p:grpSpPr>
        <p:pic>
          <p:nvPicPr>
            <p:cNvPr id="4110" name="矩形 1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794" cy="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0" y="-1"/>
              <a:ext cx="3792" cy="169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01" name="矩形 15"/>
          <p:cNvGrpSpPr/>
          <p:nvPr userDrawn="1"/>
        </p:nvGrpSpPr>
        <p:grpSpPr>
          <a:xfrm>
            <a:off x="0" y="892175"/>
            <a:ext cx="9034463" cy="31750"/>
            <a:chOff x="0" y="0"/>
            <a:chExt cx="5691" cy="27"/>
          </a:xfrm>
        </p:grpSpPr>
        <p:pic>
          <p:nvPicPr>
            <p:cNvPr id="4108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5" name="Text Box 9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02" name="Rectangle 2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103" name="Rectangle 3"/>
          <p:cNvSpPr>
            <a:spLocks noGrp="1"/>
          </p:cNvSpPr>
          <p:nvPr>
            <p:ph type="body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10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948488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6788" y="4948238"/>
            <a:ext cx="41275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755650" y="4937125"/>
            <a:ext cx="2686050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3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国际农业航空施药技术联合实验室</a:t>
            </a:r>
            <a:endParaRPr kumimoji="0" lang="zh-CN" altLang="en-US" sz="1300" b="1" i="1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107" name="图片 1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6513" y="4729163"/>
            <a:ext cx="938212" cy="4556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1.png"/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2" Type="http://schemas.openxmlformats.org/officeDocument/2006/relationships/notesSlide" Target="../notesSlides/notesSlide24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5.png"/><Relationship Id="rId1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5.png"/><Relationship Id="rId1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4"/>
          <p:cNvSpPr>
            <a:spLocks noChangeShapeType="1"/>
          </p:cNvSpPr>
          <p:nvPr/>
        </p:nvSpPr>
        <p:spPr bwMode="auto">
          <a:xfrm>
            <a:off x="1143000" y="514350"/>
            <a:ext cx="257175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5" name="Line 5"/>
          <p:cNvSpPr>
            <a:spLocks noChangeShapeType="1"/>
          </p:cNvSpPr>
          <p:nvPr/>
        </p:nvSpPr>
        <p:spPr bwMode="auto">
          <a:xfrm>
            <a:off x="1314450" y="0"/>
            <a:ext cx="0" cy="51435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6" name="Rectangle 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55576" y="833859"/>
            <a:ext cx="6859275" cy="611956"/>
          </a:xfrm>
          <a:prstGeom prst="rect">
            <a:avLst/>
          </a:prstGeom>
          <a:ln>
            <a:miter lim="800000"/>
          </a:ln>
        </p:spPr>
        <p:txBody>
          <a:bodyPr/>
          <a:lstStyle/>
          <a:p>
            <a:pPr eaLnBrk="1" hangingPunct="1">
              <a:lnSpc>
                <a:spcPts val="4350"/>
              </a:lnSpc>
              <a:defRPr/>
            </a:pP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图像处理与机器视觉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3" name="矩形 4"/>
          <p:cNvSpPr>
            <a:spLocks noChangeArrowheads="1"/>
          </p:cNvSpPr>
          <p:nvPr/>
        </p:nvSpPr>
        <p:spPr bwMode="auto">
          <a:xfrm>
            <a:off x="611560" y="2931790"/>
            <a:ext cx="7777163" cy="1383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u="none" dirty="0">
                <a:solidFill>
                  <a:schemeClr val="tx1"/>
                </a:solidFill>
                <a:latin typeface="黑体" panose="02010609060101010101" pitchFamily="49" charset="-122"/>
              </a:rPr>
              <a:t>            授课人：</a:t>
            </a:r>
            <a:r>
              <a:rPr lang="zh-CN" altLang="en-US" sz="2000" u="none" dirty="0">
                <a:solidFill>
                  <a:srgbClr val="C00000"/>
                </a:solidFill>
                <a:latin typeface="黑体" panose="02010609060101010101" pitchFamily="49" charset="-122"/>
                <a:cs typeface="+mj-cs"/>
              </a:rPr>
              <a:t>董昕</a:t>
            </a:r>
            <a:endParaRPr lang="en-US" altLang="zh-CN" sz="2000" u="none" dirty="0">
              <a:solidFill>
                <a:srgbClr val="C00000"/>
              </a:solidFill>
              <a:latin typeface="黑体" panose="02010609060101010101" pitchFamily="49" charset="-122"/>
              <a:cs typeface="+mj-cs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u="none" dirty="0">
                <a:solidFill>
                  <a:schemeClr val="tx1"/>
                </a:solidFill>
                <a:latin typeface="黑体" panose="02010609060101010101" pitchFamily="49" charset="-122"/>
              </a:rPr>
              <a:t>            单  位：</a:t>
            </a:r>
            <a:r>
              <a:rPr lang="zh-CN" altLang="en-US" sz="2000" u="none" dirty="0">
                <a:solidFill>
                  <a:srgbClr val="0000FF"/>
                </a:solidFill>
                <a:latin typeface="黑体" panose="02010609060101010101" pitchFamily="49" charset="-122"/>
              </a:rPr>
              <a:t>人工智能与低空技术学院</a:t>
            </a:r>
            <a:endParaRPr lang="en-US" altLang="zh-CN" sz="2000" u="none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algn="ctr" eaLnBrk="1" hangingPunct="1">
              <a:lnSpc>
                <a:spcPct val="120000"/>
              </a:lnSpc>
              <a:defRPr/>
            </a:pPr>
            <a:r>
              <a:rPr lang="en-US" altLang="zh-CN" sz="2000" u="none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sym typeface="+mn-ea"/>
              </a:rPr>
              <a:t>	</a:t>
            </a:r>
            <a:endParaRPr lang="en-US" altLang="zh-CN" sz="2000" u="none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84500" y="2067560"/>
            <a:ext cx="303149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四、形态学处理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1688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实验一、形态学处理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6610" y="843280"/>
            <a:ext cx="7509510" cy="381508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2195830" y="1851660"/>
            <a:ext cx="2616835" cy="38290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/>
          <p:nvPr>
            <p:ph idx="1"/>
          </p:nvPr>
        </p:nvSpPr>
        <p:spPr>
          <a:xfrm>
            <a:off x="3202940" y="1923415"/>
            <a:ext cx="2738120" cy="944880"/>
          </a:xfrm>
        </p:spPr>
        <p:txBody>
          <a:bodyPr/>
          <a:p>
            <a:pPr marL="0" indent="0">
              <a:buNone/>
            </a:pPr>
            <a:r>
              <a:rPr lang="zh-CN" altLang="en-US" sz="4800"/>
              <a:t>理论知识</a:t>
            </a:r>
            <a:endParaRPr lang="zh-CN" altLang="en-US" sz="4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腐蚀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915035"/>
            <a:ext cx="7550785" cy="3942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76835"/>
            <a:ext cx="3819525" cy="5708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腐蚀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1525"/>
            <a:ext cx="7521575" cy="4387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76835"/>
            <a:ext cx="3819525" cy="5708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腐蚀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915035"/>
            <a:ext cx="7550785" cy="3942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76835"/>
            <a:ext cx="3819525" cy="5708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腐蚀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0590"/>
            <a:ext cx="9138920" cy="42329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76835"/>
            <a:ext cx="3819525" cy="5708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2.</a:t>
            </a:r>
            <a:r>
              <a:rPr lang="zh-CN" altLang="en-US" dirty="0">
                <a:sym typeface="+mn-ea"/>
              </a:rPr>
              <a:t>膨胀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10" y="123190"/>
            <a:ext cx="4285615" cy="492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5500"/>
          <a:stretch>
            <a:fillRect/>
          </a:stretch>
        </p:blipFill>
        <p:spPr>
          <a:xfrm>
            <a:off x="7235825" y="843280"/>
            <a:ext cx="1494155" cy="527050"/>
          </a:xfrm>
          <a:prstGeom prst="rect">
            <a:avLst/>
          </a:prstGeom>
        </p:spPr>
      </p:pic>
      <p:sp>
        <p:nvSpPr>
          <p:cNvPr id="7" name="圆角右箭头 6"/>
          <p:cNvSpPr/>
          <p:nvPr/>
        </p:nvSpPr>
        <p:spPr>
          <a:xfrm flipV="1">
            <a:off x="6137275" y="699135"/>
            <a:ext cx="982345" cy="499110"/>
          </a:xfrm>
          <a:prstGeom prst="bentArrow">
            <a:avLst/>
          </a:prstGeom>
          <a:solidFill>
            <a:srgbClr val="5AAD5C"/>
          </a:solidFill>
          <a:ln w="9525" cap="flat" cmpd="sng" algn="ctr">
            <a:solidFill>
              <a:srgbClr val="4EA85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7350"/>
            <a:ext cx="8983980" cy="3486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2.</a:t>
            </a:r>
            <a:r>
              <a:rPr lang="zh-CN" altLang="en-US" dirty="0">
                <a:sym typeface="+mn-ea"/>
              </a:rPr>
              <a:t>膨胀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117475"/>
            <a:ext cx="4285615" cy="492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771525"/>
            <a:ext cx="8039735" cy="41281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开运算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117475"/>
            <a:ext cx="2894330" cy="5499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25" y="222885"/>
            <a:ext cx="1637030" cy="339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" y="843280"/>
            <a:ext cx="8210550" cy="857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" y="1779270"/>
            <a:ext cx="8210550" cy="114681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195060" y="771525"/>
            <a:ext cx="2094865" cy="57594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t="5383" b="7743"/>
          <a:stretch>
            <a:fillRect/>
          </a:stretch>
        </p:blipFill>
        <p:spPr>
          <a:xfrm>
            <a:off x="1331595" y="2787650"/>
            <a:ext cx="6066155" cy="19640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开运算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111760"/>
            <a:ext cx="2894330" cy="5499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25" y="222885"/>
            <a:ext cx="1637030" cy="3390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5383" b="7743"/>
          <a:stretch>
            <a:fillRect/>
          </a:stretch>
        </p:blipFill>
        <p:spPr>
          <a:xfrm>
            <a:off x="0" y="2479040"/>
            <a:ext cx="8229600" cy="2664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" y="843280"/>
            <a:ext cx="6736080" cy="1454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4.</a:t>
            </a:r>
            <a:r>
              <a:rPr lang="zh-CN" altLang="en-US" dirty="0">
                <a:sym typeface="+mn-ea"/>
              </a:rPr>
              <a:t>闭运算</a:t>
            </a:r>
            <a:endParaRPr lang="zh-CN" altLang="en-US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9565" y="187325"/>
            <a:ext cx="2794000" cy="4025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15" y="187325"/>
            <a:ext cx="1586230" cy="3689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918210"/>
            <a:ext cx="7820660" cy="12268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840" y="2643505"/>
            <a:ext cx="6727825" cy="187706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6811645" y="918210"/>
            <a:ext cx="1288415" cy="48196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11505" y="1290955"/>
            <a:ext cx="1642110" cy="48196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形态学处理：</a:t>
            </a:r>
            <a:r>
              <a:rPr lang="en-US" altLang="zh-CN" dirty="0">
                <a:sym typeface="+mn-ea"/>
              </a:rPr>
              <a:t>4.</a:t>
            </a:r>
            <a:r>
              <a:rPr lang="zh-CN" altLang="en-US" dirty="0">
                <a:sym typeface="+mn-ea"/>
              </a:rPr>
              <a:t>闭运算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067560"/>
            <a:ext cx="7666990" cy="21393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565" y="194945"/>
            <a:ext cx="2794000" cy="4025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415" y="194945"/>
            <a:ext cx="1586230" cy="3689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" y="843280"/>
            <a:ext cx="8354695" cy="1235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15" y="4299585"/>
            <a:ext cx="8759190" cy="4286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四种基本形态学处理</a:t>
            </a:r>
            <a:endParaRPr lang="zh-CN" altLang="en-US" dirty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785" y="2571750"/>
            <a:ext cx="3505200" cy="1209675"/>
          </a:xfrm>
          <a:prstGeom prst="rect">
            <a:avLst/>
          </a:prstGeom>
        </p:spPr>
      </p:pic>
      <p:sp>
        <p:nvSpPr>
          <p:cNvPr id="4" name="内容占位符 3"/>
          <p:cNvSpPr/>
          <p:nvPr>
            <p:ph idx="1"/>
          </p:nvPr>
        </p:nvSpPr>
        <p:spPr>
          <a:xfrm>
            <a:off x="3131820" y="1203325"/>
            <a:ext cx="2738120" cy="944880"/>
          </a:xfrm>
        </p:spPr>
        <p:txBody>
          <a:bodyPr/>
          <a:p>
            <a:pPr marL="0" indent="0">
              <a:buNone/>
            </a:pPr>
            <a:r>
              <a:rPr lang="zh-CN" altLang="en-US" sz="4800"/>
              <a:t>代码实现</a:t>
            </a:r>
            <a:endParaRPr lang="zh-CN" altLang="en-US" sz="4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：四种基本形态学处理</a:t>
            </a:r>
            <a:endParaRPr lang="zh-CN" altLang="en-US" dirty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785" y="2571750"/>
            <a:ext cx="3505200" cy="1209675"/>
          </a:xfrm>
          <a:prstGeom prst="rect">
            <a:avLst/>
          </a:prstGeom>
        </p:spPr>
      </p:pic>
      <p:sp>
        <p:nvSpPr>
          <p:cNvPr id="4" name="内容占位符 3"/>
          <p:cNvSpPr/>
          <p:nvPr>
            <p:ph idx="1"/>
          </p:nvPr>
        </p:nvSpPr>
        <p:spPr>
          <a:xfrm>
            <a:off x="3131820" y="1203325"/>
            <a:ext cx="2738120" cy="944880"/>
          </a:xfrm>
        </p:spPr>
        <p:txBody>
          <a:bodyPr/>
          <a:p>
            <a:pPr marL="0" indent="0">
              <a:buNone/>
            </a:pPr>
            <a:r>
              <a:rPr lang="zh-CN" altLang="en-US" sz="4800"/>
              <a:t>代码实现</a:t>
            </a:r>
            <a:endParaRPr lang="zh-CN" altLang="en-US" sz="4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4955" cy="51428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5695" y="368935"/>
            <a:ext cx="2383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morphology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形态学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3220085"/>
            <a:ext cx="2171700" cy="1616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210" y="2931795"/>
            <a:ext cx="4876800" cy="20097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03985" y="292100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69790" y="4659630"/>
            <a:ext cx="792480" cy="459740"/>
            <a:chOff x="7272" y="7424"/>
            <a:chExt cx="1248" cy="724"/>
          </a:xfrm>
        </p:grpSpPr>
        <p:sp>
          <p:nvSpPr>
            <p:cNvPr id="8" name="圆角矩形 7"/>
            <p:cNvSpPr/>
            <p:nvPr/>
          </p:nvSpPr>
          <p:spPr>
            <a:xfrm rot="3000000">
              <a:off x="7084" y="7616"/>
              <a:ext cx="724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 rot="19140000">
              <a:off x="7272" y="7465"/>
              <a:ext cx="1248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699770"/>
            <a:ext cx="6972300" cy="2295525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378520" y="123189"/>
            <a:ext cx="7848600" cy="61118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ym typeface="+mn-ea"/>
              </a:rPr>
              <a:t>四种基本形态学处理：腐蚀和膨胀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03985" y="292100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3220085"/>
            <a:ext cx="2724150" cy="1581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934335"/>
            <a:ext cx="5924550" cy="18669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8362315" y="4667885"/>
            <a:ext cx="792480" cy="459740"/>
            <a:chOff x="7272" y="7424"/>
            <a:chExt cx="1248" cy="724"/>
          </a:xfrm>
        </p:grpSpPr>
        <p:sp>
          <p:nvSpPr>
            <p:cNvPr id="9" name="圆角矩形 8"/>
            <p:cNvSpPr/>
            <p:nvPr/>
          </p:nvSpPr>
          <p:spPr>
            <a:xfrm rot="3000000">
              <a:off x="7084" y="7616"/>
              <a:ext cx="724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 rot="19140000">
              <a:off x="7272" y="7465"/>
              <a:ext cx="1248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779145"/>
            <a:ext cx="7029450" cy="2390775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四种基本形态学处理：腐蚀和膨胀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四种基本形态学处理：</a:t>
            </a:r>
            <a:r>
              <a:rPr lang="zh-CN" altLang="en-US" dirty="0">
                <a:sym typeface="+mn-ea"/>
              </a:rPr>
              <a:t>开运算闭</a:t>
            </a:r>
            <a:r>
              <a:rPr lang="zh-CN" altLang="en-US" dirty="0">
                <a:sym typeface="+mn-ea"/>
              </a:rPr>
              <a:t>运算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57045" y="2499995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931795"/>
            <a:ext cx="2009775" cy="1495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765" y="2571750"/>
            <a:ext cx="4486275" cy="199072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4932045" y="4300220"/>
            <a:ext cx="792480" cy="459740"/>
            <a:chOff x="7272" y="7424"/>
            <a:chExt cx="1248" cy="724"/>
          </a:xfrm>
        </p:grpSpPr>
        <p:sp>
          <p:nvSpPr>
            <p:cNvPr id="9" name="圆角矩形 8"/>
            <p:cNvSpPr/>
            <p:nvPr/>
          </p:nvSpPr>
          <p:spPr>
            <a:xfrm rot="3000000">
              <a:off x="7084" y="7616"/>
              <a:ext cx="724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 rot="19140000">
              <a:off x="7272" y="7465"/>
              <a:ext cx="1248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987425"/>
            <a:ext cx="8672830" cy="12242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四种基本形态学处理：</a:t>
            </a:r>
            <a:r>
              <a:rPr lang="zh-CN" altLang="en-US" dirty="0">
                <a:sym typeface="+mn-ea"/>
              </a:rPr>
              <a:t>开运算和闭</a:t>
            </a:r>
            <a:r>
              <a:rPr lang="zh-CN" altLang="en-US" dirty="0">
                <a:sym typeface="+mn-ea"/>
              </a:rPr>
              <a:t>运算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931795"/>
            <a:ext cx="2724150" cy="1581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5" y="2643505"/>
            <a:ext cx="6029325" cy="2000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81100" y="263271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316595" y="4468495"/>
            <a:ext cx="792480" cy="459740"/>
            <a:chOff x="7272" y="7424"/>
            <a:chExt cx="1248" cy="724"/>
          </a:xfrm>
        </p:grpSpPr>
        <p:sp>
          <p:nvSpPr>
            <p:cNvPr id="9" name="圆角矩形 8"/>
            <p:cNvSpPr/>
            <p:nvPr/>
          </p:nvSpPr>
          <p:spPr>
            <a:xfrm rot="3000000">
              <a:off x="7084" y="7616"/>
              <a:ext cx="724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 rot="19140000">
              <a:off x="7272" y="7465"/>
              <a:ext cx="1248" cy="341"/>
            </a:xfrm>
            <a:prstGeom prst="roundRect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987425"/>
            <a:ext cx="8672830" cy="12242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3013075"/>
            <a:ext cx="2663190" cy="154559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387475" y="268097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开运算闭</a:t>
            </a:r>
            <a:r>
              <a:rPr lang="zh-CN" altLang="en-US" dirty="0">
                <a:sym typeface="+mn-ea"/>
              </a:rPr>
              <a:t>运算效果展示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996950"/>
            <a:ext cx="2171700" cy="1616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03985" y="68834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r="53447"/>
          <a:stretch>
            <a:fillRect/>
          </a:stretch>
        </p:blipFill>
        <p:spPr>
          <a:xfrm>
            <a:off x="6156325" y="728345"/>
            <a:ext cx="2088515" cy="1990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3602" r="52747" b="-3602"/>
          <a:stretch>
            <a:fillRect/>
          </a:stretch>
        </p:blipFill>
        <p:spPr>
          <a:xfrm>
            <a:off x="3420110" y="771525"/>
            <a:ext cx="2304415" cy="20097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l="53483"/>
          <a:stretch>
            <a:fillRect/>
          </a:stretch>
        </p:blipFill>
        <p:spPr>
          <a:xfrm>
            <a:off x="3153410" y="2719070"/>
            <a:ext cx="2755900" cy="1866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52554"/>
          <a:stretch>
            <a:fillRect/>
          </a:stretch>
        </p:blipFill>
        <p:spPr>
          <a:xfrm>
            <a:off x="5868035" y="2680970"/>
            <a:ext cx="2800985" cy="19583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轮廓提取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987425"/>
            <a:ext cx="2171700" cy="1616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1550" y="68834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53447"/>
          <a:stretch>
            <a:fillRect/>
          </a:stretch>
        </p:blipFill>
        <p:spPr>
          <a:xfrm>
            <a:off x="323215" y="2787650"/>
            <a:ext cx="2088515" cy="1990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3602" r="52747" b="-3602"/>
          <a:stretch>
            <a:fillRect/>
          </a:stretch>
        </p:blipFill>
        <p:spPr>
          <a:xfrm>
            <a:off x="3203575" y="2931795"/>
            <a:ext cx="2304415" cy="2009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635" y="3147695"/>
            <a:ext cx="2009775" cy="1495425"/>
          </a:xfrm>
          <a:prstGeom prst="rect">
            <a:avLst/>
          </a:prstGeom>
        </p:spPr>
      </p:pic>
      <p:sp>
        <p:nvSpPr>
          <p:cNvPr id="5" name="减号 4"/>
          <p:cNvSpPr/>
          <p:nvPr/>
        </p:nvSpPr>
        <p:spPr>
          <a:xfrm>
            <a:off x="2627630" y="3795395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等于号 8"/>
          <p:cNvSpPr/>
          <p:nvPr/>
        </p:nvSpPr>
        <p:spPr>
          <a:xfrm>
            <a:off x="5795645" y="3795395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79970" y="278765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轮廓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097915"/>
            <a:ext cx="2663190" cy="15455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轮廓提取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3985" y="68834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原图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53483"/>
          <a:stretch>
            <a:fillRect/>
          </a:stretch>
        </p:blipFill>
        <p:spPr>
          <a:xfrm>
            <a:off x="35560" y="2797175"/>
            <a:ext cx="2755900" cy="1866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l="52554"/>
          <a:stretch>
            <a:fillRect/>
          </a:stretch>
        </p:blipFill>
        <p:spPr>
          <a:xfrm>
            <a:off x="3059430" y="2787650"/>
            <a:ext cx="2800985" cy="1958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3147695"/>
            <a:ext cx="2724150" cy="1581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595870" y="2715260"/>
            <a:ext cx="575945" cy="2990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350">
                <a:latin typeface="Arial" panose="020B0604020202020204" pitchFamily="34" charset="0"/>
                <a:ea typeface="微软雅黑" panose="020B0503020204020204" charset="-122"/>
              </a:rPr>
              <a:t>轮廓</a:t>
            </a:r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减号 4"/>
          <p:cNvSpPr/>
          <p:nvPr/>
        </p:nvSpPr>
        <p:spPr>
          <a:xfrm>
            <a:off x="2771775" y="3723640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等于号 8"/>
          <p:cNvSpPr/>
          <p:nvPr/>
        </p:nvSpPr>
        <p:spPr>
          <a:xfrm>
            <a:off x="5796280" y="3651885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其他三种形态学运算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055" r="999"/>
          <a:stretch>
            <a:fillRect/>
          </a:stretch>
        </p:blipFill>
        <p:spPr>
          <a:xfrm>
            <a:off x="0" y="699135"/>
            <a:ext cx="6660515" cy="305752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398145" y="987425"/>
            <a:ext cx="2266950" cy="360045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2093595"/>
            <a:ext cx="2109470" cy="261620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98145" y="3101340"/>
            <a:ext cx="2178685" cy="308610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91615"/>
            <a:ext cx="6814185" cy="282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955" y="2571750"/>
            <a:ext cx="6386195" cy="3092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955" y="3795395"/>
            <a:ext cx="7198360" cy="3098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其他三种形态学运算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055" r="999"/>
          <a:stretch>
            <a:fillRect/>
          </a:stretch>
        </p:blipFill>
        <p:spPr>
          <a:xfrm>
            <a:off x="0" y="699135"/>
            <a:ext cx="6660515" cy="305752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398145" y="987425"/>
            <a:ext cx="2266950" cy="360045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2093595"/>
            <a:ext cx="2109470" cy="261620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98145" y="3101340"/>
            <a:ext cx="2178685" cy="308610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减号 12"/>
          <p:cNvSpPr/>
          <p:nvPr/>
        </p:nvSpPr>
        <p:spPr>
          <a:xfrm>
            <a:off x="6325870" y="1540510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等于号 13"/>
          <p:cNvSpPr/>
          <p:nvPr/>
        </p:nvSpPr>
        <p:spPr>
          <a:xfrm>
            <a:off x="7515860" y="1540510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13125" y="1419225"/>
            <a:ext cx="64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原图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减号 21"/>
          <p:cNvSpPr/>
          <p:nvPr/>
        </p:nvSpPr>
        <p:spPr>
          <a:xfrm>
            <a:off x="6300470" y="2571750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等于号 22"/>
          <p:cNvSpPr/>
          <p:nvPr/>
        </p:nvSpPr>
        <p:spPr>
          <a:xfrm>
            <a:off x="7588250" y="2571750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3493770"/>
            <a:ext cx="2256155" cy="15271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525" y="3723640"/>
            <a:ext cx="1735455" cy="11753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020" y="3749675"/>
            <a:ext cx="1671320" cy="1148715"/>
          </a:xfrm>
          <a:prstGeom prst="rect">
            <a:avLst/>
          </a:prstGeom>
        </p:spPr>
      </p:pic>
      <p:sp>
        <p:nvSpPr>
          <p:cNvPr id="27" name="减号 26"/>
          <p:cNvSpPr/>
          <p:nvPr/>
        </p:nvSpPr>
        <p:spPr>
          <a:xfrm>
            <a:off x="4048760" y="4123055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等于号 27"/>
          <p:cNvSpPr/>
          <p:nvPr/>
        </p:nvSpPr>
        <p:spPr>
          <a:xfrm>
            <a:off x="6148070" y="4094480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805" y="1395730"/>
            <a:ext cx="910590" cy="64897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225" y="2433320"/>
            <a:ext cx="910590" cy="64897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315" y="1376045"/>
            <a:ext cx="943610" cy="64643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8440" y="1353820"/>
            <a:ext cx="989330" cy="66865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440" y="1353820"/>
            <a:ext cx="876300" cy="76136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8615" y="2427605"/>
            <a:ext cx="850900" cy="70929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8315" y="2499360"/>
            <a:ext cx="1036320" cy="709295"/>
          </a:xfrm>
          <a:prstGeom prst="rect">
            <a:avLst/>
          </a:prstGeom>
        </p:spPr>
      </p:pic>
      <p:sp>
        <p:nvSpPr>
          <p:cNvPr id="40" name="圆角矩形 39"/>
          <p:cNvSpPr/>
          <p:nvPr/>
        </p:nvSpPr>
        <p:spPr>
          <a:xfrm>
            <a:off x="5140960" y="2342515"/>
            <a:ext cx="1121410" cy="83121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059555" y="1334770"/>
            <a:ext cx="1145540" cy="75882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454525" y="3696970"/>
            <a:ext cx="1733550" cy="119316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其他三种形态学运算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7755" r="6889"/>
          <a:stretch>
            <a:fillRect/>
          </a:stretch>
        </p:blipFill>
        <p:spPr>
          <a:xfrm>
            <a:off x="107315" y="915035"/>
            <a:ext cx="2287905" cy="3283585"/>
          </a:xfrm>
          <a:prstGeom prst="rect">
            <a:avLst/>
          </a:prstGeom>
        </p:spPr>
      </p:pic>
      <p:sp>
        <p:nvSpPr>
          <p:cNvPr id="13" name="减号 12"/>
          <p:cNvSpPr/>
          <p:nvPr/>
        </p:nvSpPr>
        <p:spPr>
          <a:xfrm>
            <a:off x="5434330" y="988060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等于号 13"/>
          <p:cNvSpPr/>
          <p:nvPr/>
        </p:nvSpPr>
        <p:spPr>
          <a:xfrm>
            <a:off x="7084060" y="995045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43505" y="1687830"/>
            <a:ext cx="64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原图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减号 21"/>
          <p:cNvSpPr/>
          <p:nvPr/>
        </p:nvSpPr>
        <p:spPr>
          <a:xfrm>
            <a:off x="5076190" y="2376170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等于号 22"/>
          <p:cNvSpPr/>
          <p:nvPr/>
        </p:nvSpPr>
        <p:spPr>
          <a:xfrm>
            <a:off x="6979285" y="2428240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rcRect l="9232" t="13306" r="16634" b="14220"/>
          <a:stretch>
            <a:fillRect/>
          </a:stretch>
        </p:blipFill>
        <p:spPr>
          <a:xfrm>
            <a:off x="7236460" y="3576320"/>
            <a:ext cx="1672590" cy="11068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035" y="3508375"/>
            <a:ext cx="1735455" cy="11753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230" y="3508375"/>
            <a:ext cx="1671320" cy="1148715"/>
          </a:xfrm>
          <a:prstGeom prst="rect">
            <a:avLst/>
          </a:prstGeom>
        </p:spPr>
      </p:pic>
      <p:sp>
        <p:nvSpPr>
          <p:cNvPr id="27" name="减号 26"/>
          <p:cNvSpPr/>
          <p:nvPr/>
        </p:nvSpPr>
        <p:spPr>
          <a:xfrm>
            <a:off x="4192270" y="3907790"/>
            <a:ext cx="360045" cy="360045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等于号 27"/>
          <p:cNvSpPr/>
          <p:nvPr/>
        </p:nvSpPr>
        <p:spPr>
          <a:xfrm>
            <a:off x="6443980" y="3867785"/>
            <a:ext cx="575945" cy="431800"/>
          </a:xfrm>
          <a:prstGeom prst="mathEqual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585" y="643255"/>
            <a:ext cx="1397635" cy="99631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65" y="2039620"/>
            <a:ext cx="1401445" cy="99949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0005" y="699770"/>
            <a:ext cx="1282700" cy="87884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810" y="687705"/>
            <a:ext cx="1295400" cy="87566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9310" y="687705"/>
            <a:ext cx="1094740" cy="95123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600" y="2022475"/>
            <a:ext cx="1290320" cy="107569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0" y="2058670"/>
            <a:ext cx="1480185" cy="1013460"/>
          </a:xfrm>
          <a:prstGeom prst="rect">
            <a:avLst/>
          </a:prstGeom>
        </p:spPr>
      </p:pic>
      <p:sp>
        <p:nvSpPr>
          <p:cNvPr id="40" name="圆角矩形 39"/>
          <p:cNvSpPr/>
          <p:nvPr/>
        </p:nvSpPr>
        <p:spPr>
          <a:xfrm>
            <a:off x="3347720" y="1957070"/>
            <a:ext cx="1588770" cy="116141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204720" y="554355"/>
            <a:ext cx="1538605" cy="1131570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598035" y="3481705"/>
            <a:ext cx="1733550" cy="1193165"/>
          </a:xfrm>
          <a:prstGeom prst="round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7900" y="1667510"/>
            <a:ext cx="64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膨胀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32550" y="1667510"/>
            <a:ext cx="64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腐蚀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24115" y="1685925"/>
            <a:ext cx="157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梯度（轮廓）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24300" y="3107055"/>
            <a:ext cx="64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原图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94375" y="3119120"/>
            <a:ext cx="93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开运算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93940" y="3076575"/>
            <a:ext cx="1932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顶帽（小亮区）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47945" y="4704715"/>
            <a:ext cx="646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原图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07970" y="4657090"/>
            <a:ext cx="93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闭运算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38365" y="4732020"/>
            <a:ext cx="1892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黑帽（小暗区）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拓展</a:t>
            </a:r>
            <a:r>
              <a:rPr lang="zh-CN" altLang="en-US" dirty="0">
                <a:sym typeface="+mn-ea"/>
              </a:rPr>
              <a:t>：击中击不中变换</a:t>
            </a:r>
            <a:endParaRPr lang="zh-CN" altLang="en-US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2067560"/>
            <a:ext cx="6029325" cy="2743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771525"/>
            <a:ext cx="7801610" cy="1190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58605" cy="5143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实验报告内容及要求</a:t>
            </a:r>
            <a:r>
              <a:rPr lang="zh-CN" altLang="en-US" sz="2000">
                <a:solidFill>
                  <a:srgbClr val="FF0000"/>
                </a:solidFill>
              </a:rPr>
              <a:t>（下节课上课前</a:t>
            </a:r>
            <a:r>
              <a:rPr lang="zh-CN" altLang="en-US" sz="2000">
                <a:solidFill>
                  <a:srgbClr val="FF0000"/>
                </a:solidFill>
              </a:rPr>
              <a:t>学委收</a:t>
            </a:r>
            <a:r>
              <a:rPr lang="zh-CN" altLang="en-US" sz="2000">
                <a:solidFill>
                  <a:srgbClr val="FF0000"/>
                </a:solidFill>
              </a:rPr>
              <a:t>齐）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560" y="771525"/>
            <a:ext cx="9028430" cy="3815080"/>
          </a:xfrm>
        </p:spPr>
        <p:txBody>
          <a:bodyPr/>
          <a:p>
            <a:r>
              <a:rPr lang="en-US" altLang="zh-CN" sz="2200"/>
              <a:t>1.1 </a:t>
            </a:r>
            <a:r>
              <a:rPr lang="zh-CN" altLang="en-US" sz="2200"/>
              <a:t>个人及课程基本信息</a:t>
            </a:r>
            <a:endParaRPr lang="zh-CN" altLang="en-US" sz="2200"/>
          </a:p>
          <a:p>
            <a:r>
              <a:rPr lang="en-US" altLang="zh-CN" sz="2200"/>
              <a:t>1.2 </a:t>
            </a:r>
            <a:r>
              <a:rPr lang="zh-CN" altLang="en-US" sz="2200"/>
              <a:t>实验目的</a:t>
            </a:r>
            <a:endParaRPr lang="en-US" altLang="zh-CN" sz="2200"/>
          </a:p>
          <a:p>
            <a:r>
              <a:rPr lang="en-US" altLang="zh-CN" sz="2200"/>
              <a:t>2.1 </a:t>
            </a:r>
            <a:r>
              <a:rPr lang="zh-CN" altLang="en-US" sz="2200"/>
              <a:t>四种基本形态学处理</a:t>
            </a:r>
            <a:r>
              <a:rPr lang="zh-CN" altLang="en-US" sz="2200"/>
              <a:t>图像</a:t>
            </a:r>
            <a:endParaRPr lang="zh-CN" altLang="en-US" sz="2200"/>
          </a:p>
          <a:p>
            <a:r>
              <a:rPr lang="en-US" altLang="zh-CN" sz="2200"/>
              <a:t>2.2 </a:t>
            </a:r>
            <a:r>
              <a:rPr lang="zh-CN" altLang="en-US" sz="2200"/>
              <a:t>其他三种形态学处理</a:t>
            </a:r>
            <a:r>
              <a:rPr lang="zh-CN" altLang="en-US" sz="2200"/>
              <a:t>图像</a:t>
            </a:r>
            <a:endParaRPr lang="zh-CN" altLang="en-US" sz="2200"/>
          </a:p>
          <a:p>
            <a:r>
              <a:rPr lang="en-US" altLang="zh-CN" sz="2200"/>
              <a:t>2.2 </a:t>
            </a:r>
            <a:r>
              <a:rPr lang="zh-CN" altLang="en-US" sz="2200"/>
              <a:t>显示以上处理结果的对比图</a:t>
            </a:r>
            <a:endParaRPr lang="zh-CN" altLang="en-US" sz="2200"/>
          </a:p>
          <a:p>
            <a:pPr marL="0" indent="0">
              <a:buNone/>
            </a:pPr>
            <a:r>
              <a:rPr lang="zh-CN" altLang="en-US" sz="2200"/>
              <a:t>（</a:t>
            </a:r>
            <a:r>
              <a:rPr lang="zh-CN" altLang="en-US" sz="2200"/>
              <a:t>针对不同处理目的，</a:t>
            </a:r>
            <a:r>
              <a:rPr lang="zh-CN" altLang="en-US" sz="2200">
                <a:solidFill>
                  <a:srgbClr val="FF0000"/>
                </a:solidFill>
                <a:highlight>
                  <a:srgbClr val="FFFF00"/>
                </a:highlight>
              </a:rPr>
              <a:t>请用前后处理效果明显的图片</a:t>
            </a:r>
            <a:r>
              <a:rPr lang="zh-CN" altLang="en-US" sz="2200"/>
              <a:t>进行处理）</a:t>
            </a:r>
            <a:endParaRPr lang="en-US" altLang="zh-CN" sz="2200"/>
          </a:p>
          <a:p>
            <a:r>
              <a:rPr lang="en-US" altLang="zh-CN" sz="2200"/>
              <a:t>2.3 </a:t>
            </a:r>
            <a:r>
              <a:rPr lang="zh-CN" altLang="en-US" sz="2200"/>
              <a:t>实验总结</a:t>
            </a:r>
            <a:endParaRPr lang="zh-CN" altLang="en-US" sz="2200"/>
          </a:p>
          <a:p>
            <a:r>
              <a:rPr lang="en-US" altLang="zh-CN" sz="2200"/>
              <a:t>{</a:t>
            </a:r>
            <a:r>
              <a:rPr lang="zh-CN" altLang="en-US" sz="2200"/>
              <a:t>实验中的做法，</a:t>
            </a:r>
            <a:r>
              <a:rPr lang="en-US" altLang="zh-CN" sz="2200"/>
              <a:t> </a:t>
            </a:r>
            <a:r>
              <a:rPr lang="zh-CN" altLang="en-US" sz="2200"/>
              <a:t>遇到的困难，</a:t>
            </a:r>
            <a:r>
              <a:rPr lang="en-US" altLang="zh-CN" sz="2200"/>
              <a:t> </a:t>
            </a:r>
            <a:r>
              <a:rPr lang="zh-CN" altLang="en-US" sz="2200"/>
              <a:t>解决难题的方法，</a:t>
            </a:r>
            <a:r>
              <a:rPr lang="en-US" altLang="zh-CN" sz="2200"/>
              <a:t> </a:t>
            </a:r>
            <a:r>
              <a:rPr lang="zh-CN" altLang="en-US" sz="2200"/>
              <a:t>收获体会</a:t>
            </a:r>
            <a:r>
              <a:rPr lang="en-US" altLang="zh-CN" sz="2200"/>
              <a:t>}</a:t>
            </a:r>
            <a:endParaRPr lang="en-US" altLang="zh-CN" sz="2200"/>
          </a:p>
          <a:p>
            <a:pPr marL="0" indent="0" algn="ctr">
              <a:buNone/>
            </a:pPr>
            <a:r>
              <a:rPr lang="zh-CN" altLang="en-US" sz="2200">
                <a:solidFill>
                  <a:srgbClr val="FF0000"/>
                </a:solidFill>
                <a:highlight>
                  <a:srgbClr val="FFFF00"/>
                </a:highlight>
              </a:rPr>
              <a:t>要求：每位同学、每堂课均用不同的图像进行处理</a:t>
            </a:r>
            <a:endParaRPr lang="en-US" altLang="zh-CN" sz="2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200"/>
              <a:t>拓展（选做）：使用击中击不中变换处理图像，并解释</a:t>
            </a:r>
            <a:r>
              <a:rPr lang="zh-CN" altLang="en-US" sz="2200"/>
              <a:t>代码</a:t>
            </a:r>
            <a:endParaRPr lang="zh-CN" altLang="en-US" sz="22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Y2IyOWM3YzFiYjM0MjU5ZmQ5NzZjNDBmODBjYmJmNzkifQ=="/>
  <p:tag name="commondata" val="eyJoZGlkIjoiY2YxODdjNzJiYzhhNzYyZWY2ZGI3ZGI0MjI1NDM3MGYifQ=="/>
</p:tagLst>
</file>

<file path=ppt/theme/theme1.xml><?xml version="1.0" encoding="utf-8"?>
<a:theme xmlns:a="http://schemas.openxmlformats.org/drawingml/2006/main" name="农业生产机械装备国家工程实验室(南机所福田）">
  <a:themeElements>
    <a:clrScheme name="农业生产机械装备国家工程实验室(南机所福田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农业生产机械装备国家工程实验室(南机所福田）">
  <a:themeElements>
    <a:clrScheme name="1_农业生产机械装备国家工程实验室(南机所福田）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CCCCFF"/>
      </a:hlink>
      <a:folHlink>
        <a:srgbClr val="969696"/>
      </a:folHlink>
    </a:clrScheme>
    <a:fontScheme name="1_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农业生产机械装备国家工程实验室(南机所福田）">
  <a:themeElements>
    <a:clrScheme name="2_农业生产机械装备国家工程实验室(南机所福田）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CCCCFF"/>
      </a:hlink>
      <a:folHlink>
        <a:srgbClr val="969696"/>
      </a:folHlink>
    </a:clrScheme>
    <a:fontScheme name="2_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农业生产机械装备国家工程实验室(南机所福田）">
  <a:themeElements>
    <a:clrScheme name="3_农业生产机械装备国家工程实验室(南机所福田）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CCCCFF"/>
      </a:hlink>
      <a:folHlink>
        <a:srgbClr val="969696"/>
      </a:folHlink>
    </a:clrScheme>
    <a:fontScheme name="3_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WPS 演示</Application>
  <PresentationFormat>全屏显示(16:9)</PresentationFormat>
  <Paragraphs>121</Paragraphs>
  <Slides>27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农业生产机械装备国家工程实验室(南机所福田）</vt:lpstr>
      <vt:lpstr>1_农业生产机械装备国家工程实验室(南机所福田）</vt:lpstr>
      <vt:lpstr>2_农业生产机械装备国家工程实验室(南机所福田）</vt:lpstr>
      <vt:lpstr>3_农业生产机械装备国家工程实验室(南机所福田）</vt:lpstr>
      <vt:lpstr>图像处理与机器视觉</vt:lpstr>
      <vt:lpstr>实验一、形态学处理</vt:lpstr>
      <vt:lpstr>形态学处理</vt:lpstr>
      <vt:lpstr>形态学处理：1.腐蚀</vt:lpstr>
      <vt:lpstr>形态学处理：1.腐蚀</vt:lpstr>
      <vt:lpstr>形态学处理：1.腐蚀</vt:lpstr>
      <vt:lpstr>形态学处理：1.腐蚀</vt:lpstr>
      <vt:lpstr>形态学处理：2.膨胀</vt:lpstr>
      <vt:lpstr>形态学处理：2.膨胀</vt:lpstr>
      <vt:lpstr>形态学处理：3.开运算</vt:lpstr>
      <vt:lpstr>形态学处理：3.开运算</vt:lpstr>
      <vt:lpstr>形态学处理：4.闭运算</vt:lpstr>
      <vt:lpstr>形态学处理：4.闭运算</vt:lpstr>
      <vt:lpstr>四种基本形态学处理</vt:lpstr>
      <vt:lpstr>实验1：四种基本形态学处理</vt:lpstr>
      <vt:lpstr>PowerPoint 演示文稿</vt:lpstr>
      <vt:lpstr>四种基本形态学处理：腐蚀和膨胀</vt:lpstr>
      <vt:lpstr>四种基本形态学处理：开运算闭运算</vt:lpstr>
      <vt:lpstr>四种基本形态学处理：开运算和闭运算</vt:lpstr>
      <vt:lpstr>开运算闭运算效果展示</vt:lpstr>
      <vt:lpstr>轮廓提取</vt:lpstr>
      <vt:lpstr>轮廓提取</vt:lpstr>
      <vt:lpstr>其他三种形态学运算</vt:lpstr>
      <vt:lpstr>其他三种形态学运算</vt:lpstr>
      <vt:lpstr>其他三种形态学运算</vt:lpstr>
      <vt:lpstr>拓展：击中击不中变换</vt:lpstr>
      <vt:lpstr>实验报告内容及要求（下节课上课前学委收齐）</vt:lpstr>
    </vt:vector>
  </TitlesOfParts>
  <Company>番茄花园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农业生产机械装备国家工程实验室 建设方案汇报</dc:title>
  <dc:creator>番茄花园</dc:creator>
  <cp:lastModifiedBy>董小姐</cp:lastModifiedBy>
  <cp:revision>1627</cp:revision>
  <dcterms:created xsi:type="dcterms:W3CDTF">2023-05-03T09:32:00Z</dcterms:created>
  <dcterms:modified xsi:type="dcterms:W3CDTF">2026-05-12T09:15:20Z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F987C8D8CB703B4A17CB2E64E82FB0EA</vt:lpwstr>
  </property>
</Properties>
</file>